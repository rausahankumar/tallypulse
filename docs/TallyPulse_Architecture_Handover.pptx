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d271e15e-9e20-5356-b835-f88494b7badd}">
          <p14:sldIdLst>
            <p14:sldId id="256"/>
          </p14:sldIdLst>
        </p14:section>
        <p14:section name="Overview" id="{3e4c0728-7386-877e-f7d2-1e410e121ba2}">
          <p14:sldIdLst>
            <p14:sldId id="257"/>
          </p14:sldIdLst>
        </p14:section>
        <p14:section name="Architecture" id="{d5cdaa06-abf4-bb37-b58b-6cc7bdd8c3ef}">
          <p14:sldIdLst>
            <p14:sldId id="258"/>
            <p14:sldId id="259"/>
          </p14:sldIdLst>
        </p14:section>
        <p14:section name="Questions" id="{009c2634-c7ed-d227-1715-ee07da6068d7}">
          <p14:sldIdLst>
            <p14:sldId id="260"/>
            <p14:sldId id="261"/>
          </p14:sldIdLst>
        </p14:section>
        <p14:section name="Meaning" id="{49ce58dc-08b5-52b6-0c69-4a26377d49e6}">
          <p14:sldIdLst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</p14:sldIdLst>
        </p14:section>
        <p14:section name="Safety" id="{bdb5b085-7fe5-3bb2-3c76-8fe07c7979fb}">
          <p14:sldIdLst>
            <p14:sldId id="270"/>
          </p14:sldIdLst>
        </p14:section>
        <p14:section name="Status" id="{9e40b81a-7342-39c5-5f08-d33df10f6dd7}">
          <p14:sldIdLst>
            <p14:sldId id="271"/>
            <p14:sldId id="272"/>
          </p14:sldIdLst>
        </p14:section>
        <p14:section name="Principles" id="{b453d930-5eab-c5ee-80fe-ebf783471f51}">
          <p14:sldIdLst>
            <p14:sldId id="273"/>
            <p14:sldId id="274"/>
          </p14:sldIdLst>
        </p14:section>
        <p14:section name="Summary" id="{c23dfa70-cc06-8d1e-5af1-402dd3103f4d}">
          <p14:sldIdLst>
            <p14:sldId id="27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TallyPulse · current architecture &amp; capabilities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371600"/>
            <a:ext cx="1069848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371600"/>
            <a:ext cx="10698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TallyPulse — Current Architecture &amp; Capabilities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7432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accent6"/>
                </a:solidFill>
              </a:rPr>
              <a:t>Developer collaboration / technical handover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3832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TallyPulse connects TallyPrime data with an AI-powered sales intelligence interface.</a:t>
            </a:r>
            <a:endParaRPr lang="en-US" sz="2000" dirty="0"/>
          </a:p>
        </p:txBody>
      </p:sp>
      <p:sp>
        <p:nvSpPr>
          <p:cNvPr id="5" name="box-1"/>
          <p:cNvSpPr txBox="1"/>
          <p:nvPr/>
        </p:nvSpPr>
        <p:spPr>
          <a:xfrm>
            <a:off x="731520" y="4937760"/>
            <a:ext cx="3017520" cy="822960"/>
          </a:xfrm>
          <a:prstGeom prst="roundRect">
            <a:avLst>
              <a:gd name="adj" fmla="val 8889"/>
            </a:avLst>
          </a:prstGeom>
          <a:solidFill>
            <a:schemeClr val="accent2"/>
          </a:solidFill>
          <a:ln/>
        </p:spPr>
        <p:txBody>
          <a:bodyPr wrap="square" lIns="50800" tIns="127000" rIns="127000" bIns="5080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TallyPrime</a:t>
            </a:r>
            <a:endParaRPr lang="en-US" sz="2000" dirty="0"/>
          </a:p>
        </p:txBody>
      </p:sp>
      <p:sp>
        <p:nvSpPr>
          <p:cNvPr id="6" name="arrow-2"/>
          <p:cNvSpPr/>
          <p:nvPr/>
        </p:nvSpPr>
        <p:spPr>
          <a:xfrm>
            <a:off x="3794760" y="5349240"/>
            <a:ext cx="640080" cy="0"/>
          </a:xfrm>
          <a:prstGeom prst="line">
            <a:avLst/>
          </a:prstGeom>
          <a:noFill/>
          <a:ln w="22225">
            <a:solidFill>
              <a:schemeClr val="bg1"/>
            </a:solidFill>
            <a:prstDash val="solid"/>
            <a:tailEnd type="triangle"/>
          </a:ln>
        </p:spPr>
      </p:sp>
      <p:sp>
        <p:nvSpPr>
          <p:cNvPr id="7" name="box-3"/>
          <p:cNvSpPr txBox="1"/>
          <p:nvPr/>
        </p:nvSpPr>
        <p:spPr>
          <a:xfrm>
            <a:off x="4480560" y="4937760"/>
            <a:ext cx="3017520" cy="822960"/>
          </a:xfrm>
          <a:prstGeom prst="roundRect">
            <a:avLst>
              <a:gd name="adj" fmla="val 8889"/>
            </a:avLst>
          </a:prstGeom>
          <a:solidFill>
            <a:schemeClr val="accent1"/>
          </a:solidFill>
          <a:ln/>
        </p:spPr>
        <p:txBody>
          <a:bodyPr wrap="square" lIns="50800" tIns="127000" rIns="127000" bIns="5080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TallyPulse</a:t>
            </a:r>
            <a:endParaRPr lang="en-US" sz="2000" dirty="0"/>
          </a:p>
        </p:txBody>
      </p:sp>
      <p:sp>
        <p:nvSpPr>
          <p:cNvPr id="8" name="arrow-4"/>
          <p:cNvSpPr/>
          <p:nvPr/>
        </p:nvSpPr>
        <p:spPr>
          <a:xfrm>
            <a:off x="7543800" y="5349240"/>
            <a:ext cx="640080" cy="0"/>
          </a:xfrm>
          <a:prstGeom prst="line">
            <a:avLst/>
          </a:prstGeom>
          <a:noFill/>
          <a:ln w="22225">
            <a:solidFill>
              <a:schemeClr val="bg1"/>
            </a:solidFill>
            <a:prstDash val="solid"/>
            <a:tailEnd type="triangle"/>
          </a:ln>
        </p:spPr>
      </p:sp>
      <p:sp>
        <p:nvSpPr>
          <p:cNvPr id="9" name="box-5"/>
          <p:cNvSpPr txBox="1"/>
          <p:nvPr/>
        </p:nvSpPr>
        <p:spPr>
          <a:xfrm>
            <a:off x="8229600" y="4937760"/>
            <a:ext cx="3017520" cy="822960"/>
          </a:xfrm>
          <a:prstGeom prst="roundRect">
            <a:avLst>
              <a:gd name="adj" fmla="val 8889"/>
            </a:avLst>
          </a:prstGeom>
          <a:solidFill>
            <a:schemeClr val="accent2"/>
          </a:solidFill>
          <a:ln/>
        </p:spPr>
        <p:txBody>
          <a:bodyPr wrap="square" lIns="50800" tIns="127000" rIns="127000" bIns="5080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Business answers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61264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Everything in this deck describes what exists in the repository today.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TallyPulse does</a:t>
            </a:r>
            <a:endParaRPr lang="en-US" sz="3200" dirty="0"/>
          </a:p>
        </p:txBody>
      </p:sp>
      <p:sp>
        <p:nvSpPr>
          <p:cNvPr id="3" name="box-6"/>
          <p:cNvSpPr txBox="1"/>
          <p:nvPr/>
        </p:nvSpPr>
        <p:spPr>
          <a:xfrm>
            <a:off x="548640" y="1371600"/>
            <a:ext cx="196596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 w="15875">
            <a:solidFill>
              <a:schemeClr val="accent6"/>
            </a:solidFill>
          </a:ln>
        </p:spPr>
        <p:txBody>
          <a:bodyPr wrap="square" lIns="50800" tIns="127000" rIns="127000" bIns="508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TallyPrime</a:t>
            </a:r>
            <a:endParaRPr lang="en-US" sz="1500" dirty="0"/>
          </a:p>
        </p:txBody>
      </p:sp>
      <p:sp>
        <p:nvSpPr>
          <p:cNvPr id="4" name="arrow-7"/>
          <p:cNvSpPr/>
          <p:nvPr/>
        </p:nvSpPr>
        <p:spPr>
          <a:xfrm>
            <a:off x="2532888" y="1760220"/>
            <a:ext cx="274320" cy="0"/>
          </a:xfrm>
          <a:prstGeom prst="line">
            <a:avLst/>
          </a:prstGeom>
          <a:noFill/>
          <a:ln w="22225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5" name="box-8"/>
          <p:cNvSpPr txBox="1"/>
          <p:nvPr/>
        </p:nvSpPr>
        <p:spPr>
          <a:xfrm>
            <a:off x="2825496" y="1371600"/>
            <a:ext cx="196596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 w="15875">
            <a:solidFill>
              <a:schemeClr val="accent6"/>
            </a:solidFill>
          </a:ln>
        </p:spPr>
        <p:txBody>
          <a:bodyPr wrap="square" lIns="50800" tIns="127000" rIns="127000" bIns="508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Tally data</a:t>
            </a:r>
            <a:endParaRPr lang="en-US" sz="1500" dirty="0"/>
          </a:p>
        </p:txBody>
      </p:sp>
      <p:sp>
        <p:nvSpPr>
          <p:cNvPr id="6" name="arrow-9"/>
          <p:cNvSpPr/>
          <p:nvPr/>
        </p:nvSpPr>
        <p:spPr>
          <a:xfrm>
            <a:off x="4809744" y="1760220"/>
            <a:ext cx="274320" cy="0"/>
          </a:xfrm>
          <a:prstGeom prst="line">
            <a:avLst/>
          </a:prstGeom>
          <a:noFill/>
          <a:ln w="22225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7" name="box-10"/>
          <p:cNvSpPr txBox="1"/>
          <p:nvPr/>
        </p:nvSpPr>
        <p:spPr>
          <a:xfrm>
            <a:off x="5102352" y="1371600"/>
            <a:ext cx="1965960" cy="777240"/>
          </a:xfrm>
          <a:prstGeom prst="roundRect">
            <a:avLst>
              <a:gd name="adj" fmla="val 9412"/>
            </a:avLst>
          </a:prstGeom>
          <a:solidFill>
            <a:schemeClr val="accent1"/>
          </a:solidFill>
          <a:ln/>
        </p:spPr>
        <p:txBody>
          <a:bodyPr wrap="square" lIns="50800" tIns="127000" rIns="127000" bIns="508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TallyPulse</a:t>
            </a:r>
            <a:endParaRPr lang="en-US" sz="1500" dirty="0"/>
          </a:p>
        </p:txBody>
      </p:sp>
      <p:sp>
        <p:nvSpPr>
          <p:cNvPr id="8" name="arrow-11"/>
          <p:cNvSpPr/>
          <p:nvPr/>
        </p:nvSpPr>
        <p:spPr>
          <a:xfrm>
            <a:off x="7086600" y="1760220"/>
            <a:ext cx="274320" cy="0"/>
          </a:xfrm>
          <a:prstGeom prst="line">
            <a:avLst/>
          </a:prstGeom>
          <a:noFill/>
          <a:ln w="22225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9" name="box-12"/>
          <p:cNvSpPr txBox="1"/>
          <p:nvPr/>
        </p:nvSpPr>
        <p:spPr>
          <a:xfrm>
            <a:off x="7379208" y="1371600"/>
            <a:ext cx="196596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 w="15875">
            <a:solidFill>
              <a:schemeClr val="accent6"/>
            </a:solidFill>
          </a:ln>
        </p:spPr>
        <p:txBody>
          <a:bodyPr wrap="square" lIns="50800" tIns="127000" rIns="127000" bIns="508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Analytics + AI questions</a:t>
            </a:r>
            <a:endParaRPr lang="en-US" sz="1500" dirty="0"/>
          </a:p>
        </p:txBody>
      </p:sp>
      <p:sp>
        <p:nvSpPr>
          <p:cNvPr id="10" name="arrow-13"/>
          <p:cNvSpPr/>
          <p:nvPr/>
        </p:nvSpPr>
        <p:spPr>
          <a:xfrm>
            <a:off x="9363456" y="1760220"/>
            <a:ext cx="274320" cy="0"/>
          </a:xfrm>
          <a:prstGeom prst="line">
            <a:avLst/>
          </a:prstGeom>
          <a:noFill/>
          <a:ln w="22225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11" name="box-14"/>
          <p:cNvSpPr txBox="1"/>
          <p:nvPr/>
        </p:nvSpPr>
        <p:spPr>
          <a:xfrm>
            <a:off x="9656064" y="1371600"/>
            <a:ext cx="196596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 w="15875">
            <a:solidFill>
              <a:schemeClr val="accent6"/>
            </a:solidFill>
          </a:ln>
        </p:spPr>
        <p:txBody>
          <a:bodyPr wrap="square" lIns="50800" tIns="127000" rIns="127000" bIns="508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Business answers</a:t>
            </a:r>
            <a:endParaRPr lang="en-US" sz="1500" dirty="0"/>
          </a:p>
        </p:txBody>
      </p:sp>
      <p:sp>
        <p:nvSpPr>
          <p:cNvPr id="12" name="box-15"/>
          <p:cNvSpPr txBox="1"/>
          <p:nvPr/>
        </p:nvSpPr>
        <p:spPr>
          <a:xfrm>
            <a:off x="548640" y="2423160"/>
            <a:ext cx="5394960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/>
        </p:spPr>
        <p:txBody>
          <a:bodyPr wrap="square" lIns="50800" tIns="127000" rIns="127000" bIns="50800" rtlCol="0" anchor="ctr"/>
          <a:lstStyle/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2514600"/>
            <a:ext cx="50292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Simple example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User asks: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i="1" dirty="0">
                <a:solidFill>
                  <a:schemeClr val="tx1"/>
                </a:solidFill>
              </a:rPr>
              <a:t>“Show my August sales.”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TallyPulse: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finds the August sales in the Tally data it has already stored, adds them up, and returns the result.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309360" y="242316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What it keeps from Tally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6309360" y="2834640"/>
            <a:ext cx="5303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Sales and Purchase vouchers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Credit Notes and Debit Notes (kept separately)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Masters: voucher types, stock items, ledgers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One tenant = one Tally company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Dashboards and reports, plus “Ask AI” chat</a:t>
            </a:r>
            <a:endParaRPr lang="en-US" sz="1600" dirty="0"/>
          </a:p>
        </p:txBody>
      </p:sp>
      <p:sp>
        <p:nvSpPr>
          <p:cNvPr id="16" name="box-16"/>
          <p:cNvSpPr txBox="1"/>
          <p:nvPr/>
        </p:nvSpPr>
        <p:spPr>
          <a:xfrm>
            <a:off x="548640" y="5120640"/>
            <a:ext cx="11064240" cy="502920"/>
          </a:xfrm>
          <a:prstGeom prst="roundRect">
            <a:avLst>
              <a:gd name="adj" fmla="val 14545"/>
            </a:avLst>
          </a:prstGeom>
          <a:solidFill>
            <a:schemeClr val="tx2"/>
          </a:solidFill>
          <a:ln/>
        </p:spPr>
        <p:txBody>
          <a:bodyPr wrap="square" lIns="50800" tIns="127000" rIns="127000" bIns="508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Answers come from stored data in MongoDB — not from asking Tally live at question time.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High-level architecture</a:t>
            </a:r>
            <a:endParaRPr lang="en-US" sz="3200" dirty="0"/>
          </a:p>
        </p:txBody>
      </p:sp>
      <p:sp>
        <p:nvSpPr>
          <p:cNvPr id="3" name="box-17"/>
          <p:cNvSpPr txBox="1"/>
          <p:nvPr/>
        </p:nvSpPr>
        <p:spPr>
          <a:xfrm>
            <a:off x="548640" y="1280160"/>
            <a:ext cx="3566160" cy="822960"/>
          </a:xfrm>
          <a:prstGeom prst="roundRect">
            <a:avLst>
              <a:gd name="adj" fmla="val 8889"/>
            </a:avLst>
          </a:prstGeom>
          <a:solidFill>
            <a:schemeClr val="bg1"/>
          </a:solidFill>
          <a:ln w="15875">
            <a:solidFill>
              <a:schemeClr val="accent3"/>
            </a:solidFill>
            <a:prstDash val="dash"/>
          </a:ln>
        </p:spPr>
        <p:txBody>
          <a:bodyPr wrap="square" lIns="50800" tIns="127000" rIns="127000" bIns="50800" rtlCol="0" anchor="ctr"/>
          <a:lstStyle/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8016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TallyPrime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The accounting software (outside TallyPulse).</a:t>
            </a:r>
            <a:endParaRPr lang="en-US" sz="1500" dirty="0"/>
          </a:p>
        </p:txBody>
      </p:sp>
      <p:sp>
        <p:nvSpPr>
          <p:cNvPr id="5" name="box-18"/>
          <p:cNvSpPr txBox="1"/>
          <p:nvPr/>
        </p:nvSpPr>
        <p:spPr>
          <a:xfrm>
            <a:off x="4297680" y="1280160"/>
            <a:ext cx="3566160" cy="822960"/>
          </a:xfrm>
          <a:prstGeom prst="roundRect">
            <a:avLst>
              <a:gd name="adj" fmla="val 8889"/>
            </a:avLst>
          </a:prstGeom>
          <a:solidFill>
            <a:schemeClr val="accent2"/>
          </a:solidFill>
          <a:ln/>
        </p:spPr>
        <p:txBody>
          <a:bodyPr wrap="square" lIns="50800" tIns="127000" rIns="127000" bIns="50800" rtlCol="0" anchor="ctr"/>
          <a:lstStyle/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389120" y="128016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Express backend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The API server. Checks login and picks the company.</a:t>
            </a:r>
            <a:endParaRPr lang="en-US" sz="1500" dirty="0"/>
          </a:p>
        </p:txBody>
      </p:sp>
      <p:sp>
        <p:nvSpPr>
          <p:cNvPr id="7" name="box-19"/>
          <p:cNvSpPr txBox="1"/>
          <p:nvPr/>
        </p:nvSpPr>
        <p:spPr>
          <a:xfrm>
            <a:off x="8046720" y="1280160"/>
            <a:ext cx="3566160" cy="822960"/>
          </a:xfrm>
          <a:prstGeom prst="roundRect">
            <a:avLst>
              <a:gd name="adj" fmla="val 8889"/>
            </a:avLst>
          </a:prstGeom>
          <a:solidFill>
            <a:schemeClr val="accent5"/>
          </a:solidFill>
          <a:ln/>
        </p:spPr>
        <p:txBody>
          <a:bodyPr wrap="square" lIns="50800" tIns="127000" rIns="127000" bIns="50800" rtlCol="0" anchor="ctr"/>
          <a:lstStyle/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138160" y="128016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React UI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Where users see dashboards and ask questions.</a:t>
            </a:r>
            <a:endParaRPr lang="en-US" sz="1500" dirty="0"/>
          </a:p>
        </p:txBody>
      </p:sp>
      <p:sp>
        <p:nvSpPr>
          <p:cNvPr id="9" name="arrow-20"/>
          <p:cNvSpPr/>
          <p:nvPr/>
        </p:nvSpPr>
        <p:spPr>
          <a:xfrm flipH="1">
            <a:off x="7882128" y="1691640"/>
            <a:ext cx="146304" cy="0"/>
          </a:xfrm>
          <a:prstGeom prst="line">
            <a:avLst/>
          </a:prstGeom>
          <a:noFill/>
          <a:ln w="22225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10" name="box-21"/>
          <p:cNvSpPr txBox="1"/>
          <p:nvPr/>
        </p:nvSpPr>
        <p:spPr>
          <a:xfrm>
            <a:off x="548640" y="2560320"/>
            <a:ext cx="356616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5875">
            <a:solidFill>
              <a:schemeClr val="accent6"/>
            </a:solidFill>
          </a:ln>
        </p:spPr>
        <p:txBody>
          <a:bodyPr wrap="square" lIns="50800" tIns="127000" rIns="127000" bIns="50800" rtlCol="0" anchor="ctr"/>
          <a:lstStyle/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256032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Tally sync + parser + mapper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Copies vouchers every 60 s and converts them to TallyPulse’s own format.</a:t>
            </a:r>
            <a:endParaRPr lang="en-US" sz="1500" dirty="0"/>
          </a:p>
        </p:txBody>
      </p:sp>
      <p:sp>
        <p:nvSpPr>
          <p:cNvPr id="12" name="arrow-22"/>
          <p:cNvSpPr/>
          <p:nvPr/>
        </p:nvSpPr>
        <p:spPr>
          <a:xfrm flipH="1">
            <a:off x="2331720" y="2121408"/>
            <a:ext cx="3749040" cy="420624"/>
          </a:xfrm>
          <a:prstGeom prst="line">
            <a:avLst/>
          </a:prstGeom>
          <a:noFill/>
          <a:ln w="22225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13" name="box-23"/>
          <p:cNvSpPr txBox="1"/>
          <p:nvPr/>
        </p:nvSpPr>
        <p:spPr>
          <a:xfrm>
            <a:off x="4297680" y="2560320"/>
            <a:ext cx="356616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5875">
            <a:solidFill>
              <a:schemeClr val="accent6"/>
            </a:solidFill>
          </a:ln>
        </p:spPr>
        <p:txBody>
          <a:bodyPr wrap="square" lIns="50800" tIns="127000" rIns="127000" bIns="50800" rtlCol="0" anchor="ctr"/>
          <a:lstStyle/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389120" y="256032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AI planner + validation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Claude turns the question into a plan; the server checks the plan.</a:t>
            </a:r>
            <a:endParaRPr lang="en-US" sz="1500" dirty="0"/>
          </a:p>
        </p:txBody>
      </p:sp>
      <p:sp>
        <p:nvSpPr>
          <p:cNvPr id="15" name="arrow-24"/>
          <p:cNvSpPr/>
          <p:nvPr/>
        </p:nvSpPr>
        <p:spPr>
          <a:xfrm>
            <a:off x="6080760" y="2121408"/>
            <a:ext cx="0" cy="420624"/>
          </a:xfrm>
          <a:prstGeom prst="line">
            <a:avLst/>
          </a:prstGeom>
          <a:noFill/>
          <a:ln w="22225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16" name="box-25"/>
          <p:cNvSpPr txBox="1"/>
          <p:nvPr/>
        </p:nvSpPr>
        <p:spPr>
          <a:xfrm>
            <a:off x="8046720" y="2560320"/>
            <a:ext cx="356616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5875">
            <a:solidFill>
              <a:schemeClr val="accent6"/>
            </a:solidFill>
          </a:ln>
        </p:spPr>
        <p:txBody>
          <a:bodyPr wrap="square" lIns="50800" tIns="127000" rIns="127000" bIns="50800" rtlCol="0" anchor="ctr"/>
          <a:lstStyle/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138160" y="256032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REST APIs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Dashboards and reports read MongoDB directly.</a:t>
            </a:r>
            <a:endParaRPr lang="en-US" sz="1500" dirty="0"/>
          </a:p>
        </p:txBody>
      </p:sp>
      <p:sp>
        <p:nvSpPr>
          <p:cNvPr id="18" name="arrow-26"/>
          <p:cNvSpPr/>
          <p:nvPr/>
        </p:nvSpPr>
        <p:spPr>
          <a:xfrm>
            <a:off x="6080760" y="2121408"/>
            <a:ext cx="3749040" cy="420624"/>
          </a:xfrm>
          <a:prstGeom prst="line">
            <a:avLst/>
          </a:prstGeom>
          <a:noFill/>
          <a:ln w="22225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19" name="box-27"/>
          <p:cNvSpPr txBox="1"/>
          <p:nvPr/>
        </p:nvSpPr>
        <p:spPr>
          <a:xfrm>
            <a:off x="4297680" y="3977640"/>
            <a:ext cx="356616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5875">
            <a:solidFill>
              <a:schemeClr val="accent6"/>
            </a:solidFill>
          </a:ln>
        </p:spPr>
        <p:txBody>
          <a:bodyPr wrap="square" lIns="50800" tIns="127000" rIns="127000" bIns="50800" rtlCol="0" anchor="ctr"/>
          <a:lstStyle/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4389120" y="397764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Query engine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Builds the database query and calculates the numbers.</a:t>
            </a:r>
            <a:endParaRPr lang="en-US" sz="1500" dirty="0"/>
          </a:p>
        </p:txBody>
      </p:sp>
      <p:sp>
        <p:nvSpPr>
          <p:cNvPr id="21" name="arrow-28"/>
          <p:cNvSpPr/>
          <p:nvPr/>
        </p:nvSpPr>
        <p:spPr>
          <a:xfrm>
            <a:off x="6080760" y="3584448"/>
            <a:ext cx="0" cy="374904"/>
          </a:xfrm>
          <a:prstGeom prst="line">
            <a:avLst/>
          </a:prstGeom>
          <a:noFill/>
          <a:ln w="22225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22" name="box-29"/>
          <p:cNvSpPr txBox="1"/>
          <p:nvPr/>
        </p:nvSpPr>
        <p:spPr>
          <a:xfrm>
            <a:off x="8046720" y="3977640"/>
            <a:ext cx="3566160" cy="914400"/>
          </a:xfrm>
          <a:prstGeom prst="roundRect">
            <a:avLst>
              <a:gd name="adj" fmla="val 8000"/>
            </a:avLst>
          </a:prstGeom>
          <a:solidFill>
            <a:schemeClr val="accent1"/>
          </a:solidFill>
          <a:ln/>
        </p:spPr>
        <p:txBody>
          <a:bodyPr wrap="square" lIns="50800" tIns="127000" rIns="127000" bIns="50800" rtlCol="0" anchor="ctr"/>
          <a:lstStyle/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8138160" y="397764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Result + presentation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Answer text, plus cards and charts built from the same numbers.</a:t>
            </a:r>
            <a:endParaRPr lang="en-US" sz="1500" dirty="0"/>
          </a:p>
        </p:txBody>
      </p:sp>
      <p:sp>
        <p:nvSpPr>
          <p:cNvPr id="24" name="arrow-30"/>
          <p:cNvSpPr/>
          <p:nvPr/>
        </p:nvSpPr>
        <p:spPr>
          <a:xfrm>
            <a:off x="7882128" y="4434840"/>
            <a:ext cx="146304" cy="0"/>
          </a:xfrm>
          <a:prstGeom prst="line">
            <a:avLst/>
          </a:prstGeom>
          <a:noFill/>
          <a:ln w="22225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25" name="box-31"/>
          <p:cNvSpPr txBox="1"/>
          <p:nvPr/>
        </p:nvSpPr>
        <p:spPr>
          <a:xfrm>
            <a:off x="548640" y="5349240"/>
            <a:ext cx="11064240" cy="777240"/>
          </a:xfrm>
          <a:prstGeom prst="roundRect">
            <a:avLst>
              <a:gd name="adj" fmla="val 9412"/>
            </a:avLst>
          </a:prstGeom>
          <a:solidFill>
            <a:schemeClr val="tx2"/>
          </a:solidFill>
          <a:ln/>
        </p:spPr>
        <p:txBody>
          <a:bodyPr wrap="square" lIns="50800" tIns="127000" rIns="127000" bIns="50800" rtlCol="0" anchor="ctr"/>
          <a:lstStyle/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731520" y="534924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MongoDB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The stored business data. Every record belongs to one tenant (one Tally company).</a:t>
            </a:r>
            <a:endParaRPr lang="en-US" sz="1600" dirty="0"/>
          </a:p>
        </p:txBody>
      </p:sp>
      <p:sp>
        <p:nvSpPr>
          <p:cNvPr id="27" name="arrow-32"/>
          <p:cNvSpPr/>
          <p:nvPr/>
        </p:nvSpPr>
        <p:spPr>
          <a:xfrm>
            <a:off x="2331720" y="3584448"/>
            <a:ext cx="0" cy="1746504"/>
          </a:xfrm>
          <a:prstGeom prst="line">
            <a:avLst/>
          </a:prstGeom>
          <a:noFill/>
          <a:ln w="22225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28" name="elbow-33"/>
          <p:cNvSpPr/>
          <p:nvPr/>
        </p:nvSpPr>
        <p:spPr>
          <a:xfrm>
            <a:off x="11612880" y="3063240"/>
            <a:ext cx="228600" cy="0"/>
          </a:xfrm>
          <a:prstGeom prst="line">
            <a:avLst/>
          </a:prstGeom>
          <a:noFill/>
          <a:ln w="22225">
            <a:solidFill>
              <a:schemeClr val="accent3"/>
            </a:solidFill>
            <a:prstDash val="solid"/>
          </a:ln>
        </p:spPr>
      </p:sp>
      <p:sp>
        <p:nvSpPr>
          <p:cNvPr id="29" name="elbow-34"/>
          <p:cNvSpPr/>
          <p:nvPr/>
        </p:nvSpPr>
        <p:spPr>
          <a:xfrm>
            <a:off x="11841480" y="3063240"/>
            <a:ext cx="0" cy="2670048"/>
          </a:xfrm>
          <a:prstGeom prst="line">
            <a:avLst/>
          </a:prstGeom>
          <a:noFill/>
          <a:ln w="22225">
            <a:solidFill>
              <a:schemeClr val="accent3"/>
            </a:solidFill>
            <a:prstDash val="solid"/>
          </a:ln>
        </p:spPr>
      </p:sp>
      <p:sp>
        <p:nvSpPr>
          <p:cNvPr id="30" name="arrow-35"/>
          <p:cNvSpPr/>
          <p:nvPr/>
        </p:nvSpPr>
        <p:spPr>
          <a:xfrm flipH="1">
            <a:off x="11631168" y="5733288"/>
            <a:ext cx="210312" cy="0"/>
          </a:xfrm>
          <a:prstGeom prst="line">
            <a:avLst/>
          </a:prstGeom>
          <a:noFill/>
          <a:ln w="22225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31" name="arrow-36"/>
          <p:cNvSpPr/>
          <p:nvPr/>
        </p:nvSpPr>
        <p:spPr>
          <a:xfrm>
            <a:off x="6080760" y="4910328"/>
            <a:ext cx="0" cy="420624"/>
          </a:xfrm>
          <a:prstGeom prst="line">
            <a:avLst/>
          </a:prstGeom>
          <a:noFill/>
          <a:ln w="22225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32" name="Text 30"/>
          <p:cNvSpPr txBox="1"/>
          <p:nvPr/>
        </p:nvSpPr>
        <p:spPr>
          <a:xfrm>
            <a:off x="6172200" y="49834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3"/>
                </a:solidFill>
              </a:rPr>
              <a:t>reads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2423160" y="42062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writes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Tally data flow</a:t>
            </a:r>
            <a:endParaRPr lang="en-US" sz="3200" dirty="0"/>
          </a:p>
        </p:txBody>
      </p:sp>
      <p:sp>
        <p:nvSpPr>
          <p:cNvPr id="3" name="box-37"/>
          <p:cNvSpPr txBox="1"/>
          <p:nvPr/>
        </p:nvSpPr>
        <p:spPr>
          <a:xfrm>
            <a:off x="548640" y="1325880"/>
            <a:ext cx="2057400" cy="640080"/>
          </a:xfrm>
          <a:prstGeom prst="roundRect">
            <a:avLst>
              <a:gd name="adj" fmla="val 11429"/>
            </a:avLst>
          </a:prstGeom>
          <a:solidFill>
            <a:schemeClr val="accent2"/>
          </a:solidFill>
          <a:ln/>
        </p:spPr>
        <p:txBody>
          <a:bodyPr wrap="square" lIns="50800" tIns="127000" rIns="127000" bIns="508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TallyPrime</a:t>
            </a:r>
            <a:endParaRPr lang="en-US" sz="1600" dirty="0"/>
          </a:p>
        </p:txBody>
      </p:sp>
      <p:sp>
        <p:nvSpPr>
          <p:cNvPr id="4" name="box-38"/>
          <p:cNvSpPr txBox="1"/>
          <p:nvPr/>
        </p:nvSpPr>
        <p:spPr>
          <a:xfrm>
            <a:off x="548640" y="2057400"/>
            <a:ext cx="205740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/>
        </p:spPr>
        <p:txBody>
          <a:bodyPr wrap="square" lIns="101600" tIns="127000" rIns="127000" bIns="10160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Holds the accounting data. Talks over HTTP on port 9000. One selected company answers at a time.</a:t>
            </a:r>
            <a:endParaRPr lang="en-US" sz="1400" dirty="0"/>
          </a:p>
        </p:txBody>
      </p:sp>
      <p:sp>
        <p:nvSpPr>
          <p:cNvPr id="5" name="arrow-39"/>
          <p:cNvSpPr/>
          <p:nvPr/>
        </p:nvSpPr>
        <p:spPr>
          <a:xfrm>
            <a:off x="2606040" y="1645920"/>
            <a:ext cx="182880" cy="0"/>
          </a:xfrm>
          <a:prstGeom prst="line">
            <a:avLst/>
          </a:prstGeom>
          <a:noFill/>
          <a:ln w="22225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6" name="box-40"/>
          <p:cNvSpPr txBox="1"/>
          <p:nvPr/>
        </p:nvSpPr>
        <p:spPr>
          <a:xfrm>
            <a:off x="2788920" y="1325880"/>
            <a:ext cx="2057400" cy="640080"/>
          </a:xfrm>
          <a:prstGeom prst="roundRect">
            <a:avLst>
              <a:gd name="adj" fmla="val 11429"/>
            </a:avLst>
          </a:prstGeom>
          <a:solidFill>
            <a:schemeClr val="accent2"/>
          </a:solidFill>
          <a:ln/>
        </p:spPr>
        <p:txBody>
          <a:bodyPr wrap="square" lIns="50800" tIns="127000" rIns="127000" bIns="508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Connector / sync</a:t>
            </a:r>
            <a:endParaRPr lang="en-US" sz="1600" dirty="0"/>
          </a:p>
        </p:txBody>
      </p:sp>
      <p:sp>
        <p:nvSpPr>
          <p:cNvPr id="7" name="box-41"/>
          <p:cNvSpPr txBox="1"/>
          <p:nvPr/>
        </p:nvSpPr>
        <p:spPr>
          <a:xfrm>
            <a:off x="2788920" y="2057400"/>
            <a:ext cx="205740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/>
        </p:spPr>
        <p:txBody>
          <a:bodyPr wrap="square" lIns="101600" tIns="127000" rIns="127000" bIns="10160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Every 60 s: asks which vouchers changed, then fetches a small slice. One request at a time.</a:t>
            </a:r>
            <a:endParaRPr lang="en-US" sz="1400" dirty="0"/>
          </a:p>
        </p:txBody>
      </p:sp>
      <p:sp>
        <p:nvSpPr>
          <p:cNvPr id="8" name="arrow-42"/>
          <p:cNvSpPr/>
          <p:nvPr/>
        </p:nvSpPr>
        <p:spPr>
          <a:xfrm>
            <a:off x="4846320" y="1645920"/>
            <a:ext cx="182880" cy="0"/>
          </a:xfrm>
          <a:prstGeom prst="line">
            <a:avLst/>
          </a:prstGeom>
          <a:noFill/>
          <a:ln w="22225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9" name="box-43"/>
          <p:cNvSpPr txBox="1"/>
          <p:nvPr/>
        </p:nvSpPr>
        <p:spPr>
          <a:xfrm>
            <a:off x="5029200" y="1325880"/>
            <a:ext cx="2057400" cy="640080"/>
          </a:xfrm>
          <a:prstGeom prst="roundRect">
            <a:avLst>
              <a:gd name="adj" fmla="val 11429"/>
            </a:avLst>
          </a:prstGeom>
          <a:solidFill>
            <a:schemeClr val="accent2"/>
          </a:solidFill>
          <a:ln/>
        </p:spPr>
        <p:txBody>
          <a:bodyPr wrap="square" lIns="50800" tIns="127000" rIns="127000" bIns="508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Parser</a:t>
            </a:r>
            <a:endParaRPr lang="en-US" sz="1600" dirty="0"/>
          </a:p>
        </p:txBody>
      </p:sp>
      <p:sp>
        <p:nvSpPr>
          <p:cNvPr id="10" name="box-44"/>
          <p:cNvSpPr txBox="1"/>
          <p:nvPr/>
        </p:nvSpPr>
        <p:spPr>
          <a:xfrm>
            <a:off x="5029200" y="2057400"/>
            <a:ext cx="205740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/>
        </p:spPr>
        <p:txBody>
          <a:bodyPr wrap="square" lIns="101600" tIns="127000" rIns="127000" bIns="10160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Unpacks Tally’s JSON reply and reads dates and amounts.</a:t>
            </a:r>
            <a:endParaRPr lang="en-US" sz="1400" dirty="0"/>
          </a:p>
        </p:txBody>
      </p:sp>
      <p:sp>
        <p:nvSpPr>
          <p:cNvPr id="11" name="arrow-45"/>
          <p:cNvSpPr/>
          <p:nvPr/>
        </p:nvSpPr>
        <p:spPr>
          <a:xfrm>
            <a:off x="7086600" y="1645920"/>
            <a:ext cx="182880" cy="0"/>
          </a:xfrm>
          <a:prstGeom prst="line">
            <a:avLst/>
          </a:prstGeom>
          <a:noFill/>
          <a:ln w="22225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12" name="box-46"/>
          <p:cNvSpPr txBox="1"/>
          <p:nvPr/>
        </p:nvSpPr>
        <p:spPr>
          <a:xfrm>
            <a:off x="7269480" y="1325880"/>
            <a:ext cx="2057400" cy="640080"/>
          </a:xfrm>
          <a:prstGeom prst="roundRect">
            <a:avLst>
              <a:gd name="adj" fmla="val 11429"/>
            </a:avLst>
          </a:prstGeom>
          <a:solidFill>
            <a:schemeClr val="accent2"/>
          </a:solidFill>
          <a:ln/>
        </p:spPr>
        <p:txBody>
          <a:bodyPr wrap="square" lIns="50800" tIns="127000" rIns="127000" bIns="508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Mapper</a:t>
            </a:r>
            <a:endParaRPr lang="en-US" sz="1600" dirty="0"/>
          </a:p>
        </p:txBody>
      </p:sp>
      <p:sp>
        <p:nvSpPr>
          <p:cNvPr id="13" name="box-47"/>
          <p:cNvSpPr txBox="1"/>
          <p:nvPr/>
        </p:nvSpPr>
        <p:spPr>
          <a:xfrm>
            <a:off x="7269480" y="2057400"/>
            <a:ext cx="205740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/>
        </p:spPr>
        <p:txBody>
          <a:bodyPr wrap="square" lIns="101600" tIns="127000" rIns="127000" bIns="10160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Turns a Tally voucher into TallyPulse’s own record shape.</a:t>
            </a:r>
            <a:endParaRPr lang="en-US" sz="1400" dirty="0"/>
          </a:p>
        </p:txBody>
      </p:sp>
      <p:sp>
        <p:nvSpPr>
          <p:cNvPr id="14" name="arrow-48"/>
          <p:cNvSpPr/>
          <p:nvPr/>
        </p:nvSpPr>
        <p:spPr>
          <a:xfrm>
            <a:off x="9326880" y="1645920"/>
            <a:ext cx="182880" cy="0"/>
          </a:xfrm>
          <a:prstGeom prst="line">
            <a:avLst/>
          </a:prstGeom>
          <a:noFill/>
          <a:ln w="22225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15" name="box-49"/>
          <p:cNvSpPr txBox="1"/>
          <p:nvPr/>
        </p:nvSpPr>
        <p:spPr>
          <a:xfrm>
            <a:off x="9509760" y="1325880"/>
            <a:ext cx="2057400" cy="64008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/>
        </p:spPr>
        <p:txBody>
          <a:bodyPr wrap="square" lIns="50800" tIns="127000" rIns="127000" bIns="508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MongoDB</a:t>
            </a:r>
            <a:endParaRPr lang="en-US" sz="1600" dirty="0"/>
          </a:p>
        </p:txBody>
      </p:sp>
      <p:sp>
        <p:nvSpPr>
          <p:cNvPr id="16" name="box-50"/>
          <p:cNvSpPr txBox="1"/>
          <p:nvPr/>
        </p:nvSpPr>
        <p:spPr>
          <a:xfrm>
            <a:off x="9509760" y="2057400"/>
            <a:ext cx="205740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/>
        </p:spPr>
        <p:txBody>
          <a:bodyPr wrap="square" lIns="101600" tIns="127000" rIns="127000" bIns="10160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Saves it for this tenant. Same voucher again = update, not a duplicate.</a:t>
            </a:r>
            <a:endParaRPr lang="en-US" sz="1400" dirty="0"/>
          </a:p>
        </p:txBody>
      </p:sp>
      <p:sp>
        <p:nvSpPr>
          <p:cNvPr id="17" name="box-51"/>
          <p:cNvSpPr txBox="1"/>
          <p:nvPr/>
        </p:nvSpPr>
        <p:spPr>
          <a:xfrm>
            <a:off x="548640" y="4160520"/>
            <a:ext cx="11064240" cy="9144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25400">
            <a:solidFill>
              <a:schemeClr val="accent1"/>
            </a:solidFill>
          </a:ln>
        </p:spPr>
        <p:txBody>
          <a:bodyPr wrap="square" lIns="50800" tIns="127000" rIns="127000" bIns="50800" rtlCol="0" anchor="ctr"/>
          <a:lstStyle/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416052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Example 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Tally sends a sales voucher → TallyPulse converts it into its own format → stores it in MongoDB under this company.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5212080"/>
            <a:ext cx="11064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Before any write, the system checks that every voucher’s ID belongs to the connected company. One foreign ID rejects the whole batch.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Cancelled vouchers are not stored. Deleted ones are found by a 20-minute check and marked, never removed.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question flow</a:t>
            </a:r>
            <a:endParaRPr lang="en-US" sz="3200" dirty="0"/>
          </a:p>
        </p:txBody>
      </p:sp>
      <p:sp>
        <p:nvSpPr>
          <p:cNvPr id="3" name="box-52"/>
          <p:cNvSpPr txBox="1"/>
          <p:nvPr/>
        </p:nvSpPr>
        <p:spPr>
          <a:xfrm>
            <a:off x="548640" y="1325880"/>
            <a:ext cx="1444752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User question</a:t>
            </a:r>
            <a:endParaRPr lang="en-US" sz="1300" dirty="0"/>
          </a:p>
        </p:txBody>
      </p:sp>
      <p:sp>
        <p:nvSpPr>
          <p:cNvPr id="4" name="arrow-53"/>
          <p:cNvSpPr/>
          <p:nvPr/>
        </p:nvSpPr>
        <p:spPr>
          <a:xfrm>
            <a:off x="1993392" y="1714500"/>
            <a:ext cx="155448" cy="0"/>
          </a:xfrm>
          <a:prstGeom prst="line">
            <a:avLst/>
          </a:prstGeom>
          <a:noFill/>
          <a:ln w="22225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5" name="box-54"/>
          <p:cNvSpPr txBox="1"/>
          <p:nvPr/>
        </p:nvSpPr>
        <p:spPr>
          <a:xfrm>
            <a:off x="2148840" y="1325880"/>
            <a:ext cx="1444752" cy="777240"/>
          </a:xfrm>
          <a:prstGeom prst="roundRect">
            <a:avLst>
              <a:gd name="adj" fmla="val 9412"/>
            </a:avLst>
          </a:prstGeom>
          <a:solidFill>
            <a:schemeClr val="accent1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Planner (Claude)</a:t>
            </a:r>
            <a:endParaRPr lang="en-US" sz="1300" dirty="0"/>
          </a:p>
        </p:txBody>
      </p:sp>
      <p:sp>
        <p:nvSpPr>
          <p:cNvPr id="6" name="arrow-55"/>
          <p:cNvSpPr/>
          <p:nvPr/>
        </p:nvSpPr>
        <p:spPr>
          <a:xfrm>
            <a:off x="3593592" y="1714500"/>
            <a:ext cx="155448" cy="0"/>
          </a:xfrm>
          <a:prstGeom prst="line">
            <a:avLst/>
          </a:prstGeom>
          <a:noFill/>
          <a:ln w="22225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7" name="box-56"/>
          <p:cNvSpPr txBox="1"/>
          <p:nvPr/>
        </p:nvSpPr>
        <p:spPr>
          <a:xfrm>
            <a:off x="3749040" y="1325880"/>
            <a:ext cx="1444752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Structured plan</a:t>
            </a:r>
            <a:endParaRPr lang="en-US" sz="1300" dirty="0"/>
          </a:p>
        </p:txBody>
      </p:sp>
      <p:sp>
        <p:nvSpPr>
          <p:cNvPr id="8" name="arrow-57"/>
          <p:cNvSpPr/>
          <p:nvPr/>
        </p:nvSpPr>
        <p:spPr>
          <a:xfrm>
            <a:off x="5193792" y="1714500"/>
            <a:ext cx="155448" cy="0"/>
          </a:xfrm>
          <a:prstGeom prst="line">
            <a:avLst/>
          </a:prstGeom>
          <a:noFill/>
          <a:ln w="22225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9" name="box-58"/>
          <p:cNvSpPr txBox="1"/>
          <p:nvPr/>
        </p:nvSpPr>
        <p:spPr>
          <a:xfrm>
            <a:off x="5349240" y="1325880"/>
            <a:ext cx="1444752" cy="777240"/>
          </a:xfrm>
          <a:prstGeom prst="roundRect">
            <a:avLst>
              <a:gd name="adj" fmla="val 9412"/>
            </a:avLst>
          </a:prstGeom>
          <a:solidFill>
            <a:schemeClr val="accent2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Validation</a:t>
            </a:r>
            <a:endParaRPr lang="en-US" sz="1300" dirty="0"/>
          </a:p>
        </p:txBody>
      </p:sp>
      <p:sp>
        <p:nvSpPr>
          <p:cNvPr id="10" name="arrow-59"/>
          <p:cNvSpPr/>
          <p:nvPr/>
        </p:nvSpPr>
        <p:spPr>
          <a:xfrm>
            <a:off x="6793992" y="1714500"/>
            <a:ext cx="155448" cy="0"/>
          </a:xfrm>
          <a:prstGeom prst="line">
            <a:avLst/>
          </a:prstGeom>
          <a:noFill/>
          <a:ln w="22225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11" name="box-60"/>
          <p:cNvSpPr txBox="1"/>
          <p:nvPr/>
        </p:nvSpPr>
        <p:spPr>
          <a:xfrm>
            <a:off x="6949440" y="1325880"/>
            <a:ext cx="1444752" cy="777240"/>
          </a:xfrm>
          <a:prstGeom prst="roundRect">
            <a:avLst>
              <a:gd name="adj" fmla="val 9412"/>
            </a:avLst>
          </a:prstGeom>
          <a:solidFill>
            <a:schemeClr val="accent2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Database query</a:t>
            </a:r>
            <a:endParaRPr lang="en-US" sz="1300" dirty="0"/>
          </a:p>
        </p:txBody>
      </p:sp>
      <p:sp>
        <p:nvSpPr>
          <p:cNvPr id="12" name="arrow-61"/>
          <p:cNvSpPr/>
          <p:nvPr/>
        </p:nvSpPr>
        <p:spPr>
          <a:xfrm>
            <a:off x="8394192" y="1714500"/>
            <a:ext cx="155448" cy="0"/>
          </a:xfrm>
          <a:prstGeom prst="line">
            <a:avLst/>
          </a:prstGeom>
          <a:noFill/>
          <a:ln w="22225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13" name="box-62"/>
          <p:cNvSpPr txBox="1"/>
          <p:nvPr/>
        </p:nvSpPr>
        <p:spPr>
          <a:xfrm>
            <a:off x="8549640" y="1325880"/>
            <a:ext cx="1444752" cy="777240"/>
          </a:xfrm>
          <a:prstGeom prst="roundRect">
            <a:avLst>
              <a:gd name="adj" fmla="val 9412"/>
            </a:avLst>
          </a:prstGeom>
          <a:solidFill>
            <a:schemeClr val="accent2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Calculation</a:t>
            </a:r>
            <a:endParaRPr lang="en-US" sz="1300" dirty="0"/>
          </a:p>
        </p:txBody>
      </p:sp>
      <p:sp>
        <p:nvSpPr>
          <p:cNvPr id="14" name="arrow-63"/>
          <p:cNvSpPr/>
          <p:nvPr/>
        </p:nvSpPr>
        <p:spPr>
          <a:xfrm>
            <a:off x="9994392" y="1714500"/>
            <a:ext cx="155448" cy="0"/>
          </a:xfrm>
          <a:prstGeom prst="line">
            <a:avLst/>
          </a:prstGeom>
          <a:noFill/>
          <a:ln w="22225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15" name="box-64"/>
          <p:cNvSpPr txBox="1"/>
          <p:nvPr/>
        </p:nvSpPr>
        <p:spPr>
          <a:xfrm>
            <a:off x="10149840" y="1325880"/>
            <a:ext cx="1444752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Answer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219456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3"/>
                </a:solidFill>
              </a:rPr>
              <a:t>Only the planner uses AI. Every box in green is ordinary server code.</a:t>
            </a:r>
            <a:endParaRPr lang="en-US" sz="1300" dirty="0"/>
          </a:p>
        </p:txBody>
      </p:sp>
      <p:sp>
        <p:nvSpPr>
          <p:cNvPr id="17" name="box-65"/>
          <p:cNvSpPr txBox="1"/>
          <p:nvPr/>
        </p:nvSpPr>
        <p:spPr>
          <a:xfrm>
            <a:off x="548640" y="2651760"/>
            <a:ext cx="11064240" cy="502920"/>
          </a:xfrm>
          <a:prstGeom prst="roundRect">
            <a:avLst>
              <a:gd name="adj" fmla="val 14545"/>
            </a:avLst>
          </a:prstGeom>
          <a:solidFill>
            <a:schemeClr val="tx2"/>
          </a:solidFill>
          <a:ln/>
        </p:spPr>
        <p:txBody>
          <a:bodyPr wrap="square" lIns="50800" tIns="127000" rIns="127000" bIns="508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The AI understands the question. It does not calculate the financial number.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33832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Example: “Show product-wise sales in August.”</a:t>
            </a:r>
            <a:endParaRPr lang="en-US" sz="1800" dirty="0"/>
          </a:p>
        </p:txBody>
      </p:sp>
      <p:sp>
        <p:nvSpPr>
          <p:cNvPr id="19" name="box-66"/>
          <p:cNvSpPr txBox="1"/>
          <p:nvPr/>
        </p:nvSpPr>
        <p:spPr>
          <a:xfrm>
            <a:off x="548640" y="3840480"/>
            <a:ext cx="5394960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/>
        </p:spPr>
        <p:txBody>
          <a:bodyPr wrap="square" lIns="50800" tIns="127000" rIns="127000" bIns="50800" rtlCol="0" anchor="ctr"/>
          <a:lstStyle/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731520" y="3931920"/>
            <a:ext cx="5029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accent2"/>
                </a:solidFill>
              </a:rPr>
              <a:t>AI understands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metric = lineAmount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period = August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= product</a:t>
            </a:r>
            <a:endParaRPr lang="en-US" sz="1800" dirty="0"/>
          </a:p>
        </p:txBody>
      </p:sp>
      <p:sp>
        <p:nvSpPr>
          <p:cNvPr id="21" name="box-67"/>
          <p:cNvSpPr txBox="1"/>
          <p:nvPr/>
        </p:nvSpPr>
        <p:spPr>
          <a:xfrm>
            <a:off x="6217920" y="3840480"/>
            <a:ext cx="5394960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/>
        </p:spPr>
        <p:txBody>
          <a:bodyPr wrap="square" lIns="50800" tIns="127000" rIns="127000" bIns="50800" rtlCol="0" anchor="ctr"/>
          <a:lstStyle/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0" y="3931920"/>
            <a:ext cx="5029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Backend calculates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Adds up the item-line values per product in August, straight from MongoDB.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Claude is called once per question, and never sees the totals.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we don't let AI calculate numbers</a:t>
            </a:r>
            <a:endParaRPr lang="en-US" sz="3200" dirty="0"/>
          </a:p>
        </p:txBody>
      </p:sp>
      <p:sp>
        <p:nvSpPr>
          <p:cNvPr id="3" name="box-68"/>
          <p:cNvSpPr txBox="1"/>
          <p:nvPr/>
        </p:nvSpPr>
        <p:spPr>
          <a:xfrm>
            <a:off x="548640" y="1371600"/>
            <a:ext cx="539496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25400">
            <a:solidFill>
              <a:schemeClr val="accent4"/>
            </a:solidFill>
          </a:ln>
        </p:spPr>
        <p:txBody>
          <a:bodyPr wrap="square" lIns="50800" tIns="127000" rIns="127000" bIns="50800" rtlCol="0" anchor="ctr"/>
          <a:lstStyle/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417320"/>
            <a:ext cx="5029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4"/>
                </a:solidFill>
              </a:rPr>
              <a:t>Approach we do NOT use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AI sees data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↓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AI guesses or calculates a number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↓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Answer</a:t>
            </a:r>
            <a:endParaRPr lang="en-US" sz="1600" dirty="0"/>
          </a:p>
        </p:txBody>
      </p:sp>
      <p:sp>
        <p:nvSpPr>
          <p:cNvPr id="5" name="box-69"/>
          <p:cNvSpPr txBox="1"/>
          <p:nvPr/>
        </p:nvSpPr>
        <p:spPr>
          <a:xfrm>
            <a:off x="6217920" y="1371600"/>
            <a:ext cx="539496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25400">
            <a:solidFill>
              <a:schemeClr val="accent2"/>
            </a:solidFill>
          </a:ln>
        </p:spPr>
        <p:txBody>
          <a:bodyPr wrap="square" lIns="50800" tIns="127000" rIns="127000" bIns="50800" rtlCol="0" anchor="ctr"/>
          <a:lstStyle/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0" y="1417320"/>
            <a:ext cx="5029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Approach we DO use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AI understands the question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↓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Backend calculates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↓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Answer</a:t>
            </a:r>
            <a:endParaRPr lang="en-US" sz="1600" dirty="0"/>
          </a:p>
        </p:txBody>
      </p:sp>
      <p:sp>
        <p:nvSpPr>
          <p:cNvPr id="7" name="box-70"/>
          <p:cNvSpPr txBox="1"/>
          <p:nvPr/>
        </p:nvSpPr>
        <p:spPr>
          <a:xfrm>
            <a:off x="548640" y="3749040"/>
            <a:ext cx="11064240" cy="502920"/>
          </a:xfrm>
          <a:prstGeom prst="roundRect">
            <a:avLst>
              <a:gd name="adj" fmla="val 14545"/>
            </a:avLst>
          </a:prstGeom>
          <a:solidFill>
            <a:schemeClr val="tx2"/>
          </a:solidFill>
          <a:ln/>
        </p:spPr>
        <p:txBody>
          <a:bodyPr wrap="square" lIns="50800" tIns="127000" rIns="127000" bIns="508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This reduces the chance of an AI-generated financial number being wrong.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480560"/>
            <a:ext cx="11064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Claude is sent the question, a description of what the catalog supports, and (for follow-ups) the previous plan.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It is not sent vouchers or totals. It never picks the company and never writes a database query.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Same question + same stored data = same number, every time.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The same plan can be answered again from a cache that clears when the company’s data changes.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Semantic catalog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The semantic catalog is the project's dictionary of business meanings.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It lives in one file (semanticCatalog.js). The planner’s instructions and the server’s checks are both built from it.</a:t>
            </a:r>
            <a:endParaRPr lang="en-US" sz="1400" dirty="0"/>
          </a:p>
        </p:txBody>
      </p:sp>
      <p:graphicFrame>
        <p:nvGraphicFramePr>
          <p:cNvPr id="8" name="catalog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286000"/>
          <a:ext cx="667512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286000"/>
                <a:gridCol w="265176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You say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Catalog meaning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Plain words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sales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invoiceAmount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invoice total, tax included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product sales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lineAmount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item-line value, before tax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quantity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quantity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units on item lines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customer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customer dimension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party name on the sales voucher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6" name="box-71"/>
          <p:cNvSpPr txBox="1"/>
          <p:nvPr/>
        </p:nvSpPr>
        <p:spPr>
          <a:xfrm>
            <a:off x="7498080" y="2286000"/>
            <a:ext cx="4114800" cy="2514600"/>
          </a:xfrm>
          <a:prstGeom prst="roundRect">
            <a:avLst>
              <a:gd name="adj" fmla="val 2909"/>
            </a:avLst>
          </a:prstGeom>
          <a:solidFill>
            <a:schemeClr val="bg2"/>
          </a:solidFill>
          <a:ln w="25400">
            <a:solidFill>
              <a:schemeClr val="accent1"/>
            </a:solidFill>
          </a:ln>
        </p:spPr>
        <p:txBody>
          <a:bodyPr wrap="square" lIns="50800" tIns="127000" rIns="127000" bIns="50800" rtlCol="0" anchor="ctr"/>
          <a:lstStyle/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7680960" y="2331720"/>
            <a:ext cx="374904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</a:rPr>
              <a:t>It also sets restrictions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Example: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i="1" dirty="0">
                <a:solidFill>
                  <a:schemeClr val="tx1"/>
                </a:solidFill>
              </a:rPr>
              <a:t>“An invoice total cannot safely be split by product.”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So “invoice total by product” is rejected by the server.</a:t>
            </a:r>
            <a:endParaRPr lang="en-US" sz="1500" dirty="0"/>
          </a:p>
        </p:txBody>
      </p:sp>
      <p:sp>
        <p:nvSpPr>
          <p:cNvPr id="8" name="box-72"/>
          <p:cNvSpPr txBox="1"/>
          <p:nvPr/>
        </p:nvSpPr>
        <p:spPr>
          <a:xfrm>
            <a:off x="548640" y="5257800"/>
            <a:ext cx="11064240" cy="502920"/>
          </a:xfrm>
          <a:prstGeom prst="roundRect">
            <a:avLst>
              <a:gd name="adj" fmla="val 14545"/>
            </a:avLst>
          </a:prstGeom>
          <a:solidFill>
            <a:schemeClr val="tx2"/>
          </a:solidFill>
          <a:ln/>
        </p:spPr>
        <p:txBody>
          <a:bodyPr wrap="square" lIns="50800" tIns="127000" rIns="127000" bIns="508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If it is not in the catalog, the engine does not answer it.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Metrics</a:t>
            </a:r>
            <a:endParaRPr lang="en-US" sz="3200" dirty="0"/>
          </a:p>
        </p:txBody>
      </p:sp>
      <p:graphicFrame>
        <p:nvGraphicFramePr>
          <p:cNvPr id="9" name="metrics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6424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4572000"/>
                <a:gridCol w="365760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Metric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Simple meaning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Example (illustrative)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invoiceAmount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Sales invoice total, tax included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Total sales = ₹10 lakh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invoiceCount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Number of sales vouchers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150 invoices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averageInvoiceValue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Average invoice value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Average invoice = ₹6,667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lineAmount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Item-line sales value, before tax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Product A = ₹2 lakh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quantity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Item quantity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Product A = 5,000 units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lineCount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Number of item lines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8,200 lines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returnAmount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Value of notes classified as returns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Returns = ₹50,000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4" name="box-73"/>
          <p:cNvSpPr txBox="1"/>
          <p:nvPr/>
        </p:nvSpPr>
        <p:spPr>
          <a:xfrm>
            <a:off x="548640" y="5257800"/>
            <a:ext cx="11064240" cy="502920"/>
          </a:xfrm>
          <a:prstGeom prst="roundRect">
            <a:avLst>
              <a:gd name="adj" fmla="val 14545"/>
            </a:avLst>
          </a:prstGeom>
          <a:solidFill>
            <a:schemeClr val="tx2"/>
          </a:solidFill>
          <a:ln/>
        </p:spPr>
        <p:txBody>
          <a:bodyPr wrap="square" lIns="50800" tIns="127000" rIns="127000" bIns="508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invoiceAmount and lineAmount are NOT the same thing.</a:t>
            </a:r>
            <a:endParaRPr lang="en-US" sz="15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58521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Also exist: purchaseAmount (purchases), returnCount, returnQuantity, returnLineAmount. The example numbers above are made up for teaching.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Invoice vs product-level sales</a:t>
            </a:r>
            <a:endParaRPr lang="en-US" sz="3200" dirty="0"/>
          </a:p>
        </p:txBody>
      </p:sp>
      <p:sp>
        <p:nvSpPr>
          <p:cNvPr id="3" name="box-74"/>
          <p:cNvSpPr txBox="1"/>
          <p:nvPr/>
        </p:nvSpPr>
        <p:spPr>
          <a:xfrm>
            <a:off x="548640" y="1325880"/>
            <a:ext cx="3840480" cy="3291840"/>
          </a:xfrm>
          <a:prstGeom prst="roundRect">
            <a:avLst>
              <a:gd name="adj" fmla="val 2222"/>
            </a:avLst>
          </a:prstGeom>
          <a:solidFill>
            <a:schemeClr val="bg1"/>
          </a:solidFill>
          <a:ln w="19050">
            <a:solidFill>
              <a:schemeClr val="accent3"/>
            </a:solidFill>
          </a:ln>
        </p:spPr>
        <p:txBody>
          <a:bodyPr wrap="square" lIns="50800" tIns="127000" rIns="127000" bIns="50800" rtlCol="0" anchor="ctr"/>
          <a:lstStyle/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3716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One invoice</a:t>
            </a:r>
            <a:endParaRPr lang="en-US" sz="1600" dirty="0"/>
          </a:p>
        </p:txBody>
      </p:sp>
      <p:sp>
        <p:nvSpPr>
          <p:cNvPr id="5" name="box-75"/>
          <p:cNvSpPr txBox="1"/>
          <p:nvPr/>
        </p:nvSpPr>
        <p:spPr>
          <a:xfrm>
            <a:off x="731520" y="1874520"/>
            <a:ext cx="3474720" cy="4572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/>
        </p:spPr>
        <p:txBody>
          <a:bodyPr wrap="square" lIns="50800" tIns="127000" rIns="127000" bIns="50800" rtlCol="0" anchor="ctr"/>
          <a:lstStyle/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18745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Product A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3017520" y="18745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₹100</a:t>
            </a:r>
            <a:endParaRPr lang="en-US" sz="1400" dirty="0"/>
          </a:p>
        </p:txBody>
      </p:sp>
      <p:sp>
        <p:nvSpPr>
          <p:cNvPr id="8" name="box-76"/>
          <p:cNvSpPr txBox="1"/>
          <p:nvPr/>
        </p:nvSpPr>
        <p:spPr>
          <a:xfrm>
            <a:off x="731520" y="2423160"/>
            <a:ext cx="3474720" cy="4572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/>
        </p:spPr>
        <p:txBody>
          <a:bodyPr wrap="square" lIns="50800" tIns="127000" rIns="127000" bIns="50800" rtlCol="0" anchor="ctr"/>
          <a:lstStyle/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24231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Product B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017520" y="24231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₹200</a:t>
            </a:r>
            <a:endParaRPr lang="en-US" sz="1400" dirty="0"/>
          </a:p>
        </p:txBody>
      </p:sp>
      <p:sp>
        <p:nvSpPr>
          <p:cNvPr id="11" name="box-77"/>
          <p:cNvSpPr txBox="1"/>
          <p:nvPr/>
        </p:nvSpPr>
        <p:spPr>
          <a:xfrm>
            <a:off x="731520" y="2971800"/>
            <a:ext cx="3474720" cy="457200"/>
          </a:xfrm>
          <a:prstGeom prst="roundRect">
            <a:avLst>
              <a:gd name="adj" fmla="val 16000"/>
            </a:avLst>
          </a:prstGeom>
          <a:solidFill>
            <a:schemeClr val="accent1"/>
          </a:solidFill>
          <a:ln/>
        </p:spPr>
        <p:txBody>
          <a:bodyPr wrap="square" lIns="50800" tIns="127000" rIns="127000" bIns="50800" rtlCol="0" anchor="ctr"/>
          <a:lstStyle/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29718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Tax / freight / etc.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017520" y="29718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₹50</a:t>
            </a:r>
            <a:endParaRPr lang="en-US" sz="1400" dirty="0"/>
          </a:p>
        </p:txBody>
      </p:sp>
      <p:sp>
        <p:nvSpPr>
          <p:cNvPr id="14" name="box-78"/>
          <p:cNvSpPr txBox="1"/>
          <p:nvPr/>
        </p:nvSpPr>
        <p:spPr>
          <a:xfrm>
            <a:off x="731520" y="3611880"/>
            <a:ext cx="3474720" cy="64008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/>
        </p:spPr>
        <p:txBody>
          <a:bodyPr wrap="square" lIns="50800" tIns="127000" rIns="127000" bIns="50800" rtlCol="0" anchor="ctr"/>
          <a:lstStyle/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868680" y="361188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Invoice total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3017520" y="361188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₹350</a:t>
            </a:r>
            <a:endParaRPr lang="en-US" sz="1800" dirty="0"/>
          </a:p>
        </p:txBody>
      </p:sp>
      <p:sp>
        <p:nvSpPr>
          <p:cNvPr id="17" name="arrow-79"/>
          <p:cNvSpPr/>
          <p:nvPr/>
        </p:nvSpPr>
        <p:spPr>
          <a:xfrm>
            <a:off x="4434840" y="2377440"/>
            <a:ext cx="960120" cy="0"/>
          </a:xfrm>
          <a:prstGeom prst="line">
            <a:avLst/>
          </a:prstGeom>
          <a:noFill/>
          <a:ln w="22225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18" name="arrow-80"/>
          <p:cNvSpPr/>
          <p:nvPr/>
        </p:nvSpPr>
        <p:spPr>
          <a:xfrm>
            <a:off x="4434840" y="3566160"/>
            <a:ext cx="960120" cy="0"/>
          </a:xfrm>
          <a:prstGeom prst="line">
            <a:avLst/>
          </a:prstGeom>
          <a:noFill/>
          <a:ln w="22225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19" name="box-81"/>
          <p:cNvSpPr txBox="1"/>
          <p:nvPr/>
        </p:nvSpPr>
        <p:spPr>
          <a:xfrm>
            <a:off x="5486400" y="1737360"/>
            <a:ext cx="612648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25400">
            <a:solidFill>
              <a:schemeClr val="accent2"/>
            </a:solidFill>
          </a:ln>
        </p:spPr>
        <p:txBody>
          <a:bodyPr wrap="square" lIns="50800" tIns="127000" rIns="127000" bIns="50800" rtlCol="0" anchor="ctr"/>
          <a:lstStyle/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5669280" y="1737360"/>
            <a:ext cx="5760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invoiceAmount → invoice level</a:t>
            </a:r>
            <a:endParaRPr lang="en-US" sz="1600" dirty="0"/>
          </a:p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Invoice total = ₹350</a:t>
            </a:r>
            <a:endParaRPr lang="en-US" sz="1600" dirty="0"/>
          </a:p>
        </p:txBody>
      </p:sp>
      <p:sp>
        <p:nvSpPr>
          <p:cNvPr id="21" name="box-82"/>
          <p:cNvSpPr txBox="1"/>
          <p:nvPr/>
        </p:nvSpPr>
        <p:spPr>
          <a:xfrm>
            <a:off x="5486400" y="3246120"/>
            <a:ext cx="612648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25400">
            <a:solidFill>
              <a:schemeClr val="accent2"/>
            </a:solidFill>
          </a:ln>
        </p:spPr>
        <p:txBody>
          <a:bodyPr wrap="square" lIns="50800" tIns="127000" rIns="127000" bIns="50800" rtlCol="0" anchor="ctr"/>
          <a:lstStyle/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5669280" y="3246120"/>
            <a:ext cx="5760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lineAmount → product / line level</a:t>
            </a:r>
            <a:endParaRPr lang="en-US" sz="1600" dirty="0"/>
          </a:p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A = ₹100   B = ₹200   (sum ₹300)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4892040"/>
            <a:ext cx="11064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The invoice total contains things that cannot always be safely assigned to a product.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So ₹300 (products) and ₹350 (invoice) will not match — and the answer says so.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One question cannot mix the two levels; the server rejects it.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Dimensions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A dimension is “what you split the number by”.</a:t>
            </a:r>
            <a:endParaRPr lang="en-US" sz="1600" dirty="0"/>
          </a:p>
        </p:txBody>
      </p:sp>
      <p:sp>
        <p:nvSpPr>
          <p:cNvPr id="4" name="box-83"/>
          <p:cNvSpPr txBox="1"/>
          <p:nvPr/>
        </p:nvSpPr>
        <p:spPr>
          <a:xfrm>
            <a:off x="548640" y="1691640"/>
            <a:ext cx="356616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</p:spPr>
        <p:txBody>
          <a:bodyPr wrap="square" lIns="50800" tIns="127000" rIns="127000" bIns="50800" rtlCol="0" anchor="ctr"/>
          <a:lstStyle/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691640"/>
            <a:ext cx="32004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accent2"/>
                </a:solidFill>
              </a:rPr>
              <a:t>Date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i="1" dirty="0">
                <a:solidFill>
                  <a:schemeClr val="tx1"/>
                </a:solidFill>
              </a:rPr>
              <a:t>“Show daily sales in August.”</a:t>
            </a: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All sales, purchases and returns.</a:t>
            </a:r>
            <a:endParaRPr lang="en-US" sz="1800" dirty="0"/>
          </a:p>
        </p:txBody>
      </p:sp>
      <p:sp>
        <p:nvSpPr>
          <p:cNvPr id="6" name="box-84"/>
          <p:cNvSpPr txBox="1"/>
          <p:nvPr/>
        </p:nvSpPr>
        <p:spPr>
          <a:xfrm>
            <a:off x="4297680" y="1691640"/>
            <a:ext cx="356616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</p:spPr>
        <p:txBody>
          <a:bodyPr wrap="square" lIns="50800" tIns="127000" rIns="127000" bIns="50800" rtlCol="0" anchor="ctr"/>
          <a:lstStyle/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480560" y="1691640"/>
            <a:ext cx="32004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accent2"/>
                </a:solidFill>
              </a:rPr>
              <a:t>Customer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i="1" dirty="0">
                <a:solidFill>
                  <a:schemeClr val="tx1"/>
                </a:solidFill>
              </a:rPr>
              <a:t>“Show sales by customer.”</a:t>
            </a: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Sales and sales returns.</a:t>
            </a:r>
            <a:endParaRPr lang="en-US" sz="1800" dirty="0"/>
          </a:p>
        </p:txBody>
      </p:sp>
      <p:sp>
        <p:nvSpPr>
          <p:cNvPr id="8" name="box-85"/>
          <p:cNvSpPr txBox="1"/>
          <p:nvPr/>
        </p:nvSpPr>
        <p:spPr>
          <a:xfrm>
            <a:off x="8046720" y="1691640"/>
            <a:ext cx="356616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</p:spPr>
        <p:txBody>
          <a:bodyPr wrap="square" lIns="50800" tIns="127000" rIns="127000" bIns="50800" rtlCol="0" anchor="ctr"/>
          <a:lstStyle/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0" y="1691640"/>
            <a:ext cx="32004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accent2"/>
                </a:solidFill>
              </a:rPr>
              <a:t>Supplier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i="1" dirty="0">
                <a:solidFill>
                  <a:schemeClr val="tx1"/>
                </a:solidFill>
              </a:rPr>
              <a:t>“Show purchases by supplier.”</a:t>
            </a: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Purchases and purchase returns.</a:t>
            </a:r>
            <a:endParaRPr lang="en-US" sz="1800" dirty="0"/>
          </a:p>
        </p:txBody>
      </p:sp>
      <p:sp>
        <p:nvSpPr>
          <p:cNvPr id="10" name="box-86"/>
          <p:cNvSpPr txBox="1"/>
          <p:nvPr/>
        </p:nvSpPr>
        <p:spPr>
          <a:xfrm>
            <a:off x="548640" y="4023360"/>
            <a:ext cx="356616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</p:spPr>
        <p:txBody>
          <a:bodyPr wrap="square" lIns="50800" tIns="127000" rIns="127000" bIns="50800" rtlCol="0" anchor="ctr"/>
          <a:lstStyle/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4023360"/>
            <a:ext cx="32004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accent2"/>
                </a:solidFill>
              </a:rPr>
              <a:t>Product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i="1" dirty="0">
                <a:solidFill>
                  <a:schemeClr val="tx1"/>
                </a:solidFill>
              </a:rPr>
              <a:t>“Show sales by product.”</a:t>
            </a: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Item-line level. Name as stored on the voucher.</a:t>
            </a:r>
            <a:endParaRPr lang="en-US" sz="1800" dirty="0"/>
          </a:p>
        </p:txBody>
      </p:sp>
      <p:sp>
        <p:nvSpPr>
          <p:cNvPr id="12" name="box-87"/>
          <p:cNvSpPr txBox="1"/>
          <p:nvPr/>
        </p:nvSpPr>
        <p:spPr>
          <a:xfrm>
            <a:off x="4297680" y="4023360"/>
            <a:ext cx="356616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</p:spPr>
        <p:txBody>
          <a:bodyPr wrap="square" lIns="50800" tIns="127000" rIns="127000" bIns="50800" rtlCol="0" anchor="ctr"/>
          <a:lstStyle/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480560" y="4023360"/>
            <a:ext cx="32004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accent2"/>
                </a:solidFill>
              </a:rPr>
              <a:t>Product group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i="1" dirty="0">
                <a:solidFill>
                  <a:schemeClr val="tx1"/>
                </a:solidFill>
              </a:rPr>
              <a:t>“Show sales by product group.”</a:t>
            </a: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Sales and purchases only. Uses Tally’s stock groups.</a:t>
            </a:r>
            <a:endParaRPr lang="en-US" sz="1800" dirty="0"/>
          </a:p>
        </p:txBody>
      </p:sp>
      <p:sp>
        <p:nvSpPr>
          <p:cNvPr id="14" name="box-88"/>
          <p:cNvSpPr txBox="1"/>
          <p:nvPr/>
        </p:nvSpPr>
        <p:spPr>
          <a:xfrm>
            <a:off x="8046720" y="4023360"/>
            <a:ext cx="356616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</p:spPr>
        <p:txBody>
          <a:bodyPr wrap="square" lIns="50800" tIns="127000" rIns="127000" bIns="50800" rtlCol="0" anchor="ctr"/>
          <a:lstStyle/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0" y="4023360"/>
            <a:ext cx="32004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accent2"/>
                </a:solidFill>
              </a:rPr>
              <a:t>Voucher type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i="1" dirty="0">
                <a:solidFill>
                  <a:schemeClr val="tx1"/>
                </a:solidFill>
              </a:rPr>
              <a:t>“Show sales by voucher type.”</a:t>
            </a: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Sales and purchases. Raw Tally type name.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 &amp; grouping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Supported grouping</a:t>
            </a:r>
            <a:endParaRPr lang="en-US" sz="1800" dirty="0"/>
          </a:p>
        </p:txBody>
      </p:sp>
      <p:sp>
        <p:nvSpPr>
          <p:cNvPr id="4" name="box-89"/>
          <p:cNvSpPr txBox="1"/>
          <p:nvPr/>
        </p:nvSpPr>
        <p:spPr>
          <a:xfrm>
            <a:off x="548640" y="1691640"/>
            <a:ext cx="1737360" cy="777240"/>
          </a:xfrm>
          <a:prstGeom prst="roundRect">
            <a:avLst>
              <a:gd name="adj" fmla="val 9412"/>
            </a:avLst>
          </a:prstGeom>
          <a:solidFill>
            <a:schemeClr val="accent2"/>
          </a:solidFill>
          <a:ln/>
        </p:spPr>
        <p:txBody>
          <a:bodyPr wrap="square" lIns="50800" tIns="127000" rIns="127000" bIns="50800" rtlCol="0" anchor="ctr"/>
          <a:lstStyle/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9164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Day</a:t>
            </a:r>
            <a:endParaRPr lang="en-US" sz="1600" dirty="0"/>
          </a:p>
        </p:txBody>
      </p:sp>
      <p:sp>
        <p:nvSpPr>
          <p:cNvPr id="6" name="box-90"/>
          <p:cNvSpPr txBox="1"/>
          <p:nvPr/>
        </p:nvSpPr>
        <p:spPr>
          <a:xfrm>
            <a:off x="2423160" y="1691640"/>
            <a:ext cx="1737360" cy="777240"/>
          </a:xfrm>
          <a:prstGeom prst="roundRect">
            <a:avLst>
              <a:gd name="adj" fmla="val 9412"/>
            </a:avLst>
          </a:prstGeom>
          <a:solidFill>
            <a:schemeClr val="accent2"/>
          </a:solidFill>
          <a:ln/>
        </p:spPr>
        <p:txBody>
          <a:bodyPr wrap="square" lIns="50800" tIns="127000" rIns="127000" bIns="50800" rtlCol="0" anchor="ctr"/>
          <a:lstStyle/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2423160" y="169164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Week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Monday start</a:t>
            </a:r>
            <a:endParaRPr lang="en-US" sz="1600" dirty="0"/>
          </a:p>
        </p:txBody>
      </p:sp>
      <p:sp>
        <p:nvSpPr>
          <p:cNvPr id="8" name="box-91"/>
          <p:cNvSpPr txBox="1"/>
          <p:nvPr/>
        </p:nvSpPr>
        <p:spPr>
          <a:xfrm>
            <a:off x="4297680" y="1691640"/>
            <a:ext cx="1737360" cy="777240"/>
          </a:xfrm>
          <a:prstGeom prst="roundRect">
            <a:avLst>
              <a:gd name="adj" fmla="val 9412"/>
            </a:avLst>
          </a:prstGeom>
          <a:solidFill>
            <a:schemeClr val="accent2"/>
          </a:solidFill>
          <a:ln/>
        </p:spPr>
        <p:txBody>
          <a:bodyPr wrap="square" lIns="50800" tIns="127000" rIns="127000" bIns="50800" rtlCol="0" anchor="ctr"/>
          <a:lstStyle/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297680" y="169164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Month</a:t>
            </a:r>
            <a:endParaRPr lang="en-US" sz="1600" dirty="0"/>
          </a:p>
        </p:txBody>
      </p:sp>
      <p:sp>
        <p:nvSpPr>
          <p:cNvPr id="10" name="box-92"/>
          <p:cNvSpPr txBox="1"/>
          <p:nvPr/>
        </p:nvSpPr>
        <p:spPr>
          <a:xfrm>
            <a:off x="548640" y="2606040"/>
            <a:ext cx="1737360" cy="777240"/>
          </a:xfrm>
          <a:prstGeom prst="roundRect">
            <a:avLst>
              <a:gd name="adj" fmla="val 9412"/>
            </a:avLst>
          </a:prstGeom>
          <a:solidFill>
            <a:schemeClr val="accent2"/>
          </a:solidFill>
          <a:ln/>
        </p:spPr>
        <p:txBody>
          <a:bodyPr wrap="square" lIns="50800" tIns="127000" rIns="127000" bIns="50800" rtlCol="0" anchor="ctr"/>
          <a:lstStyle/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260604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Quarter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financial-year aligned</a:t>
            </a:r>
            <a:endParaRPr lang="en-US" sz="1600" dirty="0"/>
          </a:p>
        </p:txBody>
      </p:sp>
      <p:sp>
        <p:nvSpPr>
          <p:cNvPr id="12" name="box-93"/>
          <p:cNvSpPr txBox="1"/>
          <p:nvPr/>
        </p:nvSpPr>
        <p:spPr>
          <a:xfrm>
            <a:off x="2423160" y="2606040"/>
            <a:ext cx="1737360" cy="777240"/>
          </a:xfrm>
          <a:prstGeom prst="roundRect">
            <a:avLst>
              <a:gd name="adj" fmla="val 9412"/>
            </a:avLst>
          </a:prstGeom>
          <a:solidFill>
            <a:schemeClr val="accent2"/>
          </a:solidFill>
          <a:ln/>
        </p:spPr>
        <p:txBody>
          <a:bodyPr wrap="square" lIns="50800" tIns="127000" rIns="127000" bIns="50800" rtlCol="0" anchor="ctr"/>
          <a:lstStyle/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2423160" y="260604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Financial year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April–March</a:t>
            </a:r>
            <a:endParaRPr lang="en-US" sz="1600" dirty="0"/>
          </a:p>
        </p:txBody>
      </p:sp>
      <p:sp>
        <p:nvSpPr>
          <p:cNvPr id="14" name="box-94"/>
          <p:cNvSpPr txBox="1"/>
          <p:nvPr/>
        </p:nvSpPr>
        <p:spPr>
          <a:xfrm>
            <a:off x="4343400" y="2606040"/>
            <a:ext cx="1737360" cy="777240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5400">
            <a:solidFill>
              <a:schemeClr val="accent4"/>
            </a:solidFill>
            <a:prstDash val="dash"/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4"/>
                </a:solidFill>
              </a:rPr>
              <a:t>Calendar year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chemeClr val="accent4"/>
                </a:solidFill>
              </a:rPr>
              <a:t>not supported</a:t>
            </a:r>
            <a:endParaRPr lang="en-US" sz="1300" dirty="0"/>
          </a:p>
        </p:txBody>
      </p:sp>
      <p:sp>
        <p:nvSpPr>
          <p:cNvPr id="15" name="box-95"/>
          <p:cNvSpPr txBox="1"/>
          <p:nvPr/>
        </p:nvSpPr>
        <p:spPr>
          <a:xfrm>
            <a:off x="6492240" y="1234440"/>
            <a:ext cx="512064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/>
        </p:spPr>
        <p:txBody>
          <a:bodyPr wrap="square" lIns="50800" tIns="127000" rIns="127000" bIns="50800" rtlCol="0" anchor="ctr"/>
          <a:lstStyle/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675120" y="1234440"/>
            <a:ext cx="47548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“August sales”</a:t>
            </a:r>
            <a:endParaRPr lang="en-US" sz="1600" dirty="0"/>
          </a:p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→ one August total</a:t>
            </a:r>
            <a:endParaRPr lang="en-US" sz="1600" dirty="0"/>
          </a:p>
        </p:txBody>
      </p:sp>
      <p:sp>
        <p:nvSpPr>
          <p:cNvPr id="17" name="box-96"/>
          <p:cNvSpPr txBox="1"/>
          <p:nvPr/>
        </p:nvSpPr>
        <p:spPr>
          <a:xfrm>
            <a:off x="6492240" y="2788920"/>
            <a:ext cx="512064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/>
        </p:spPr>
        <p:txBody>
          <a:bodyPr wrap="square" lIns="50800" tIns="127000" rIns="127000" bIns="50800" rtlCol="0" anchor="ctr"/>
          <a:lstStyle/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675120" y="2788920"/>
            <a:ext cx="47548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“August daily sales”</a:t>
            </a:r>
            <a:endParaRPr lang="en-US" sz="1600" dirty="0"/>
          </a:p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→ a separate value for each day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4526280"/>
            <a:ext cx="11064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The AI decides which grouping was asked for. The engine does the grouping.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Days with no data are not shown (they are not filled with zero).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For a calendar year today, use financial year or a custom date range.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“Today” follows the server’s clock. There is no per-company time zone.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Filters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A filter narrows which records are used.</a:t>
            </a:r>
            <a:endParaRPr lang="en-US" sz="1600" dirty="0"/>
          </a:p>
        </p:txBody>
      </p:sp>
      <p:sp>
        <p:nvSpPr>
          <p:cNvPr id="4" name="box-97"/>
          <p:cNvSpPr txBox="1"/>
          <p:nvPr/>
        </p:nvSpPr>
        <p:spPr>
          <a:xfrm>
            <a:off x="548640" y="1645920"/>
            <a:ext cx="356616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  <p:txBody>
          <a:bodyPr wrap="square" lIns="50800" tIns="127000" rIns="127000" bIns="5080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“Show sales for ABC Traders.”</a:t>
            </a:r>
            <a:endParaRPr lang="en-US" sz="1500" dirty="0"/>
          </a:p>
        </p:txBody>
      </p:sp>
      <p:sp>
        <p:nvSpPr>
          <p:cNvPr id="5" name="box-98"/>
          <p:cNvSpPr txBox="1"/>
          <p:nvPr/>
        </p:nvSpPr>
        <p:spPr>
          <a:xfrm>
            <a:off x="4297680" y="1645920"/>
            <a:ext cx="356616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  <p:txBody>
          <a:bodyPr wrap="square" lIns="50800" tIns="127000" rIns="127000" bIns="5080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“Show sales for Product A.”</a:t>
            </a:r>
            <a:endParaRPr lang="en-US" sz="1500" dirty="0"/>
          </a:p>
        </p:txBody>
      </p:sp>
      <p:sp>
        <p:nvSpPr>
          <p:cNvPr id="6" name="box-99"/>
          <p:cNvSpPr txBox="1"/>
          <p:nvPr/>
        </p:nvSpPr>
        <p:spPr>
          <a:xfrm>
            <a:off x="8046720" y="1645920"/>
            <a:ext cx="356616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  <p:txBody>
          <a:bodyPr wrap="square" lIns="50800" tIns="127000" rIns="127000" bIns="5080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“Show purchases for Supplier X.”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6974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Important difference: filtering an invoice by product</a:t>
            </a:r>
            <a:endParaRPr lang="en-US" sz="1800" dirty="0"/>
          </a:p>
        </p:txBody>
      </p:sp>
      <p:sp>
        <p:nvSpPr>
          <p:cNvPr id="8" name="box-100"/>
          <p:cNvSpPr txBox="1"/>
          <p:nvPr/>
        </p:nvSpPr>
        <p:spPr>
          <a:xfrm>
            <a:off x="548640" y="3154680"/>
            <a:ext cx="3566160" cy="1828800"/>
          </a:xfrm>
          <a:prstGeom prst="roundRect">
            <a:avLst>
              <a:gd name="adj" fmla="val 4000"/>
            </a:avLst>
          </a:prstGeom>
          <a:solidFill>
            <a:schemeClr val="bg1"/>
          </a:solidFill>
          <a:ln w="15875">
            <a:solidFill>
              <a:schemeClr val="accent3"/>
            </a:solidFill>
          </a:ln>
        </p:spPr>
        <p:txBody>
          <a:bodyPr wrap="square" lIns="50800" tIns="127000" rIns="127000" bIns="50800" rtlCol="0" anchor="ctr"/>
          <a:lstStyle/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3154680"/>
            <a:ext cx="3200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Invoice INV-1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 A  ₹100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 B  ₹200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Tax etc.   ₹50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      ₹350</a:t>
            </a:r>
            <a:endParaRPr lang="en-US" sz="1500" dirty="0"/>
          </a:p>
        </p:txBody>
      </p:sp>
      <p:sp>
        <p:nvSpPr>
          <p:cNvPr id="10" name="box-101"/>
          <p:cNvSpPr txBox="1"/>
          <p:nvPr/>
        </p:nvSpPr>
        <p:spPr>
          <a:xfrm>
            <a:off x="4297680" y="3154680"/>
            <a:ext cx="3657600" cy="18288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25400">
            <a:solidFill>
              <a:schemeClr val="accent4"/>
            </a:solidFill>
          </a:ln>
        </p:spPr>
        <p:txBody>
          <a:bodyPr wrap="square" lIns="50800" tIns="127000" rIns="127000" bIns="50800" rtlCol="0" anchor="ctr"/>
          <a:lstStyle/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480560" y="3154680"/>
            <a:ext cx="3291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4"/>
                </a:solidFill>
              </a:rPr>
              <a:t>Invoice sales, product = A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Invoices that CONTAIN A</a:t>
            </a:r>
            <a:endParaRPr lang="en-US" sz="1500" dirty="0"/>
          </a:p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→ INV-1 = ₹350</a:t>
            </a:r>
            <a:endParaRPr lang="en-US" sz="1500" dirty="0"/>
          </a:p>
        </p:txBody>
      </p:sp>
      <p:sp>
        <p:nvSpPr>
          <p:cNvPr id="12" name="box-102"/>
          <p:cNvSpPr txBox="1"/>
          <p:nvPr/>
        </p:nvSpPr>
        <p:spPr>
          <a:xfrm>
            <a:off x="8138160" y="3154680"/>
            <a:ext cx="3474720" cy="18288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25400">
            <a:solidFill>
              <a:schemeClr val="accent2"/>
            </a:solidFill>
          </a:ln>
        </p:spPr>
        <p:txBody>
          <a:bodyPr wrap="square" lIns="50800" tIns="127000" rIns="127000" bIns="50800" rtlCol="0" anchor="ctr"/>
          <a:lstStyle/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321040" y="3154680"/>
            <a:ext cx="3108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Product sales, product = A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A’s own item lines</a:t>
            </a:r>
            <a:endParaRPr lang="en-US" sz="1500" dirty="0"/>
          </a:p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→ ₹100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5212080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Filtering by product does NOT automatically mean “only this product’s share”. The answer states which one you got.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Names are matched ignoring upper/lower case, and are checked against stored data first.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Entity resolution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The system tries to see that slightly different spellings are the same business name.</a:t>
            </a:r>
            <a:endParaRPr lang="en-US" sz="1600" dirty="0"/>
          </a:p>
        </p:txBody>
      </p:sp>
      <p:sp>
        <p:nvSpPr>
          <p:cNvPr id="4" name="box-103"/>
          <p:cNvSpPr txBox="1"/>
          <p:nvPr/>
        </p:nvSpPr>
        <p:spPr>
          <a:xfrm>
            <a:off x="548640" y="1783080"/>
            <a:ext cx="2926080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  <p:txBody>
          <a:bodyPr wrap="square" lIns="50800" tIns="127000" rIns="127000" bIns="5080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ACME TRADERS</a:t>
            </a:r>
            <a:endParaRPr lang="en-US" sz="1600" dirty="0"/>
          </a:p>
        </p:txBody>
      </p:sp>
      <p:sp>
        <p:nvSpPr>
          <p:cNvPr id="5" name="arrow-104"/>
          <p:cNvSpPr/>
          <p:nvPr/>
        </p:nvSpPr>
        <p:spPr>
          <a:xfrm>
            <a:off x="3520440" y="2057400"/>
            <a:ext cx="640080" cy="685800"/>
          </a:xfrm>
          <a:prstGeom prst="line">
            <a:avLst/>
          </a:prstGeom>
          <a:noFill/>
          <a:ln w="22225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6" name="box-105"/>
          <p:cNvSpPr txBox="1"/>
          <p:nvPr/>
        </p:nvSpPr>
        <p:spPr>
          <a:xfrm>
            <a:off x="548640" y="2468880"/>
            <a:ext cx="2926080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  <p:txBody>
          <a:bodyPr wrap="square" lIns="50800" tIns="127000" rIns="127000" bIns="5080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Acme Traders.</a:t>
            </a:r>
            <a:endParaRPr lang="en-US" sz="1600" dirty="0"/>
          </a:p>
        </p:txBody>
      </p:sp>
      <p:sp>
        <p:nvSpPr>
          <p:cNvPr id="7" name="arrow-106"/>
          <p:cNvSpPr/>
          <p:nvPr/>
        </p:nvSpPr>
        <p:spPr>
          <a:xfrm>
            <a:off x="3520440" y="2743200"/>
            <a:ext cx="640080" cy="0"/>
          </a:xfrm>
          <a:prstGeom prst="line">
            <a:avLst/>
          </a:prstGeom>
          <a:noFill/>
          <a:ln w="22225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8" name="box-107"/>
          <p:cNvSpPr txBox="1"/>
          <p:nvPr/>
        </p:nvSpPr>
        <p:spPr>
          <a:xfrm>
            <a:off x="548640" y="3154680"/>
            <a:ext cx="2926080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  <p:txBody>
          <a:bodyPr wrap="square" lIns="50800" tIns="127000" rIns="127000" bIns="5080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acme traders</a:t>
            </a:r>
            <a:endParaRPr lang="en-US" sz="1600" dirty="0"/>
          </a:p>
        </p:txBody>
      </p:sp>
      <p:sp>
        <p:nvSpPr>
          <p:cNvPr id="9" name="arrow-108"/>
          <p:cNvSpPr/>
          <p:nvPr/>
        </p:nvSpPr>
        <p:spPr>
          <a:xfrm flipV="1">
            <a:off x="3520440" y="2743200"/>
            <a:ext cx="640080" cy="685800"/>
          </a:xfrm>
          <a:prstGeom prst="line">
            <a:avLst/>
          </a:prstGeom>
          <a:noFill/>
          <a:ln w="22225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10" name="box-109"/>
          <p:cNvSpPr txBox="1"/>
          <p:nvPr/>
        </p:nvSpPr>
        <p:spPr>
          <a:xfrm>
            <a:off x="4206240" y="2331720"/>
            <a:ext cx="2743200" cy="822960"/>
          </a:xfrm>
          <a:prstGeom prst="roundRect">
            <a:avLst>
              <a:gd name="adj" fmla="val 8889"/>
            </a:avLst>
          </a:prstGeom>
          <a:solidFill>
            <a:schemeClr val="accent2"/>
          </a:solidFill>
          <a:ln/>
        </p:spPr>
        <p:txBody>
          <a:bodyPr wrap="square" lIns="50800" tIns="127000" rIns="127000" bIns="5080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acme traders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4206240" y="32004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same name after clean-up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0" y="173736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What it normalizes today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0" y="2148840"/>
            <a:ext cx="42976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Upper / lower case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“&amp;” becomes “and”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Punctuation and extra spaces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 first word typed alone (4+ letters) resolves only if exactly ONE stored name starts with it</a:t>
            </a:r>
            <a:endParaRPr lang="en-US" sz="1400" dirty="0"/>
          </a:p>
        </p:txBody>
      </p:sp>
      <p:sp>
        <p:nvSpPr>
          <p:cNvPr id="14" name="box-110"/>
          <p:cNvSpPr txBox="1"/>
          <p:nvPr/>
        </p:nvSpPr>
        <p:spPr>
          <a:xfrm>
            <a:off x="548640" y="4069080"/>
            <a:ext cx="11064240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9050">
            <a:solidFill>
              <a:schemeClr val="accent4"/>
            </a:solidFill>
          </a:ln>
        </p:spPr>
        <p:txBody>
          <a:bodyPr wrap="square" lIns="50800" tIns="127000" rIns="127000" bIns="50800" rtlCol="0" anchor="ctr"/>
          <a:lstStyle/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4114800"/>
            <a:ext cx="106070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accent4"/>
                </a:solidFill>
              </a:rPr>
              <a:t>Current limits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No fuzzy matching: a misspelled name does not match.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If two or more stored names fit, it does not guess.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Matching keeps only A–Z and 0–9, so names in other scripts are not matched.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Grouping uses the raw stored name, so spelling variants show as separate groups.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rules &amp; current boundaries (D1–D6)</a:t>
            </a:r>
            <a:endParaRPr lang="en-US" sz="3200" dirty="0"/>
          </a:p>
        </p:txBody>
      </p:sp>
      <p:graphicFrame>
        <p:nvGraphicFramePr>
          <p:cNvPr id="15" name="rules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6424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3291840"/>
                <a:gridCol w="4206240"/>
                <a:gridCol w="292608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Business meaning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What the system does today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Example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D1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“Orders” are not invoices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No order data. Asks a clarifying question.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“How many orders?” → clarify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D2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Invoice sales = before tax, before returns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Refused. No pre-tax invoice total is stored.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Never faked with another number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D3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Turnover / Net sales = after returns, before tax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Refused. Needs tax split and sales + returns together.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Refuses, does not invent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D4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Bare “returns” = sales returns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Answers sales returns.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“Show returns”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D5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Credit notes = sales returns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Counts only notes classified as returns. Sales totals are not reduced.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“Show credit notes”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D6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Product sales = item-line sales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Uses lineAmount (before tax). Will not add up to invoice totals.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“Product A sales”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9436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Business meaning (what the rule says) is not the same as current technical capability (what the engine can calculate today).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Safety &amp; validation</a:t>
            </a:r>
            <a:endParaRPr lang="en-US" sz="3200" dirty="0"/>
          </a:p>
        </p:txBody>
      </p:sp>
      <p:sp>
        <p:nvSpPr>
          <p:cNvPr id="3" name="box-111"/>
          <p:cNvSpPr txBox="1"/>
          <p:nvPr/>
        </p:nvSpPr>
        <p:spPr>
          <a:xfrm>
            <a:off x="548640" y="1371600"/>
            <a:ext cx="1554480" cy="73152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/>
        </p:spPr>
        <p:txBody>
          <a:bodyPr wrap="square" lIns="50800" tIns="127000" rIns="127000" bIns="5080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AI</a:t>
            </a:r>
            <a:endParaRPr lang="en-US" sz="1800" dirty="0"/>
          </a:p>
        </p:txBody>
      </p:sp>
      <p:sp>
        <p:nvSpPr>
          <p:cNvPr id="4" name="arrow-112"/>
          <p:cNvSpPr/>
          <p:nvPr/>
        </p:nvSpPr>
        <p:spPr>
          <a:xfrm>
            <a:off x="2121408" y="1737360"/>
            <a:ext cx="393192" cy="0"/>
          </a:xfrm>
          <a:prstGeom prst="line">
            <a:avLst/>
          </a:prstGeom>
          <a:noFill/>
          <a:ln w="22225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5" name="box-113"/>
          <p:cNvSpPr txBox="1"/>
          <p:nvPr/>
        </p:nvSpPr>
        <p:spPr>
          <a:xfrm>
            <a:off x="2560320" y="1371600"/>
            <a:ext cx="219456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  <p:txBody>
          <a:bodyPr wrap="square" lIns="50800" tIns="127000" rIns="1270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Structured plan</a:t>
            </a:r>
            <a:endParaRPr lang="en-US" sz="1400" dirty="0"/>
          </a:p>
        </p:txBody>
      </p:sp>
      <p:sp>
        <p:nvSpPr>
          <p:cNvPr id="6" name="arrow-114"/>
          <p:cNvSpPr/>
          <p:nvPr/>
        </p:nvSpPr>
        <p:spPr>
          <a:xfrm>
            <a:off x="4773168" y="1737360"/>
            <a:ext cx="393192" cy="0"/>
          </a:xfrm>
          <a:prstGeom prst="line">
            <a:avLst/>
          </a:prstGeom>
          <a:noFill/>
          <a:ln w="22225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7" name="box-115"/>
          <p:cNvSpPr txBox="1"/>
          <p:nvPr/>
        </p:nvSpPr>
        <p:spPr>
          <a:xfrm>
            <a:off x="5212080" y="1371600"/>
            <a:ext cx="2194560" cy="731520"/>
          </a:xfrm>
          <a:prstGeom prst="roundRect">
            <a:avLst>
              <a:gd name="adj" fmla="val 10000"/>
            </a:avLst>
          </a:prstGeom>
          <a:solidFill>
            <a:schemeClr val="accent2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Server checks the plan</a:t>
            </a:r>
            <a:endParaRPr lang="en-US" sz="1400" dirty="0"/>
          </a:p>
        </p:txBody>
      </p:sp>
      <p:sp>
        <p:nvSpPr>
          <p:cNvPr id="8" name="arrow-116"/>
          <p:cNvSpPr/>
          <p:nvPr/>
        </p:nvSpPr>
        <p:spPr>
          <a:xfrm>
            <a:off x="7424928" y="1737360"/>
            <a:ext cx="393192" cy="0"/>
          </a:xfrm>
          <a:prstGeom prst="line">
            <a:avLst/>
          </a:prstGeom>
          <a:noFill/>
          <a:ln w="22225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9" name="box-117"/>
          <p:cNvSpPr txBox="1"/>
          <p:nvPr/>
        </p:nvSpPr>
        <p:spPr>
          <a:xfrm>
            <a:off x="7863840" y="1371600"/>
            <a:ext cx="1554480" cy="73152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25400">
            <a:solidFill>
              <a:schemeClr val="tx2"/>
            </a:solidFill>
          </a:ln>
        </p:spPr>
        <p:txBody>
          <a:bodyPr wrap="square" lIns="50800" tIns="127000" rIns="1270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Allowed?</a:t>
            </a:r>
            <a:endParaRPr lang="en-US" sz="1400" dirty="0"/>
          </a:p>
        </p:txBody>
      </p:sp>
      <p:sp>
        <p:nvSpPr>
          <p:cNvPr id="10" name="arrow-118"/>
          <p:cNvSpPr/>
          <p:nvPr/>
        </p:nvSpPr>
        <p:spPr>
          <a:xfrm>
            <a:off x="9436608" y="1554480"/>
            <a:ext cx="438912" cy="0"/>
          </a:xfrm>
          <a:prstGeom prst="line">
            <a:avLst/>
          </a:prstGeom>
          <a:noFill/>
          <a:ln w="22225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11" name="arrow-119"/>
          <p:cNvSpPr/>
          <p:nvPr/>
        </p:nvSpPr>
        <p:spPr>
          <a:xfrm>
            <a:off x="9436608" y="1920240"/>
            <a:ext cx="438912" cy="594360"/>
          </a:xfrm>
          <a:prstGeom prst="line">
            <a:avLst/>
          </a:prstGeom>
          <a:noFill/>
          <a:ln w="22225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12" name="box-120"/>
          <p:cNvSpPr txBox="1"/>
          <p:nvPr/>
        </p:nvSpPr>
        <p:spPr>
          <a:xfrm>
            <a:off x="9921240" y="1280160"/>
            <a:ext cx="1691640" cy="548640"/>
          </a:xfrm>
          <a:prstGeom prst="roundRect">
            <a:avLst>
              <a:gd name="adj" fmla="val 13333"/>
            </a:avLst>
          </a:prstGeom>
          <a:solidFill>
            <a:schemeClr val="accent2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Yes → run it</a:t>
            </a:r>
            <a:endParaRPr lang="en-US" sz="1400" dirty="0"/>
          </a:p>
        </p:txBody>
      </p:sp>
      <p:sp>
        <p:nvSpPr>
          <p:cNvPr id="13" name="box-121"/>
          <p:cNvSpPr txBox="1"/>
          <p:nvPr/>
        </p:nvSpPr>
        <p:spPr>
          <a:xfrm>
            <a:off x="9921240" y="2240280"/>
            <a:ext cx="1691640" cy="548640"/>
          </a:xfrm>
          <a:prstGeom prst="roundRect">
            <a:avLst>
              <a:gd name="adj" fmla="val 13333"/>
            </a:avLst>
          </a:prstGeom>
          <a:solidFill>
            <a:schemeClr val="accent4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No → ask / refuse</a:t>
            </a:r>
            <a:endParaRPr lang="en-US" sz="1400" dirty="0"/>
          </a:p>
        </p:txBody>
      </p:sp>
      <p:sp>
        <p:nvSpPr>
          <p:cNvPr id="14" name="box-122"/>
          <p:cNvSpPr txBox="1"/>
          <p:nvPr/>
        </p:nvSpPr>
        <p:spPr>
          <a:xfrm>
            <a:off x="548640" y="2926080"/>
            <a:ext cx="11064240" cy="502920"/>
          </a:xfrm>
          <a:prstGeom prst="roundRect">
            <a:avLst>
              <a:gd name="adj" fmla="val 14545"/>
            </a:avLst>
          </a:prstGeom>
          <a:solidFill>
            <a:schemeClr val="tx2"/>
          </a:solidFill>
          <a:ln/>
        </p:spPr>
        <p:txBody>
          <a:bodyPr wrap="square" lIns="50800" tIns="127000" rIns="127000" bIns="508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The AI cannot directly bypass the backend rules.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365760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What the server checks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069080"/>
            <a:ext cx="5760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The plan has a valid shape and uses only catalog metrics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Business-term rules (e.g. net sales, “orders”)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Every name is re-matched to stored data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Company comes from the login, never from the AI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Every database query starts with the company filter</a:t>
            </a:r>
            <a:endParaRPr lang="en-US" sz="1400" dirty="0"/>
          </a:p>
        </p:txBody>
      </p:sp>
      <p:sp>
        <p:nvSpPr>
          <p:cNvPr id="17" name="box-123"/>
          <p:cNvSpPr txBox="1"/>
          <p:nvPr/>
        </p:nvSpPr>
        <p:spPr>
          <a:xfrm>
            <a:off x="6583680" y="3657600"/>
            <a:ext cx="5029200" cy="265176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/>
        </p:spPr>
        <p:txBody>
          <a:bodyPr wrap="square" lIns="50800" tIns="127000" rIns="127000" bIns="50800" rtlCol="0" anchor="ctr"/>
          <a:lstStyle/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766560" y="3703320"/>
            <a:ext cx="46634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</a:rPr>
              <a:t>Example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User asks for Net Sales.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The AI cannot simply invent a number. The backend refuses and gives the catalog’s reason: net-of-returns is not calculable today.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Current testing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Representative results from the latest verified run</a:t>
            </a:r>
            <a:endParaRPr lang="en-US" sz="1600" dirty="0"/>
          </a:p>
        </p:txBody>
      </p:sp>
      <p:sp>
        <p:nvSpPr>
          <p:cNvPr id="4" name="box-124"/>
          <p:cNvSpPr txBox="1"/>
          <p:nvPr/>
        </p:nvSpPr>
        <p:spPr>
          <a:xfrm>
            <a:off x="548640" y="1691640"/>
            <a:ext cx="356616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  <p:txBody>
          <a:bodyPr wrap="square" lIns="50800" tIns="127000" rIns="127000" bIns="50800" rtlCol="0" anchor="ctr"/>
          <a:lstStyle/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91640"/>
            <a:ext cx="3566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296</a:t>
            </a:r>
            <a:endParaRPr lang="en-US" sz="4000" dirty="0"/>
          </a:p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Query engine — pass</a:t>
            </a:r>
            <a:endParaRPr lang="en-US" sz="4000" dirty="0"/>
          </a:p>
        </p:txBody>
      </p:sp>
      <p:sp>
        <p:nvSpPr>
          <p:cNvPr id="6" name="box-125"/>
          <p:cNvSpPr txBox="1"/>
          <p:nvPr/>
        </p:nvSpPr>
        <p:spPr>
          <a:xfrm>
            <a:off x="4297680" y="1691640"/>
            <a:ext cx="356616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  <p:txBody>
          <a:bodyPr wrap="square" lIns="50800" tIns="127000" rIns="127000" bIns="50800" rtlCol="0" anchor="ctr"/>
          <a:lstStyle/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297680" y="1691640"/>
            <a:ext cx="3566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352</a:t>
            </a:r>
            <a:endParaRPr lang="en-US" sz="4000" dirty="0"/>
          </a:p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Query planner — pass</a:t>
            </a:r>
            <a:endParaRPr lang="en-US" sz="4000" dirty="0"/>
          </a:p>
        </p:txBody>
      </p:sp>
      <p:sp>
        <p:nvSpPr>
          <p:cNvPr id="8" name="box-126"/>
          <p:cNvSpPr txBox="1"/>
          <p:nvPr/>
        </p:nvSpPr>
        <p:spPr>
          <a:xfrm>
            <a:off x="8046720" y="1691640"/>
            <a:ext cx="356616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  <p:txBody>
          <a:bodyPr wrap="square" lIns="50800" tIns="127000" rIns="127000" bIns="50800" rtlCol="0" anchor="ctr"/>
          <a:lstStyle/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046720" y="1691640"/>
            <a:ext cx="3566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179</a:t>
            </a:r>
            <a:endParaRPr lang="en-US" sz="4000" dirty="0"/>
          </a:p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Query chat — pass</a:t>
            </a:r>
            <a:endParaRPr lang="en-US" sz="4000" dirty="0"/>
          </a:p>
        </p:txBody>
      </p:sp>
      <p:sp>
        <p:nvSpPr>
          <p:cNvPr id="10" name="box-127"/>
          <p:cNvSpPr txBox="1"/>
          <p:nvPr/>
        </p:nvSpPr>
        <p:spPr>
          <a:xfrm>
            <a:off x="548640" y="3337560"/>
            <a:ext cx="356616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  <p:txBody>
          <a:bodyPr wrap="square" lIns="50800" tIns="127000" rIns="127000" bIns="50800" rtlCol="0" anchor="ctr"/>
          <a:lstStyle/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3337560"/>
            <a:ext cx="3566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268</a:t>
            </a:r>
            <a:endParaRPr lang="en-US" sz="4000" dirty="0"/>
          </a:p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Query parity — pass</a:t>
            </a:r>
            <a:endParaRPr lang="en-US" sz="4000" dirty="0"/>
          </a:p>
        </p:txBody>
      </p:sp>
      <p:sp>
        <p:nvSpPr>
          <p:cNvPr id="12" name="box-128"/>
          <p:cNvSpPr txBox="1"/>
          <p:nvPr/>
        </p:nvSpPr>
        <p:spPr>
          <a:xfrm>
            <a:off x="4297680" y="3337560"/>
            <a:ext cx="356616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  <p:txBody>
          <a:bodyPr wrap="square" lIns="50800" tIns="127000" rIns="127000" bIns="50800" rtlCol="0" anchor="ctr"/>
          <a:lstStyle/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297680" y="3337560"/>
            <a:ext cx="3566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282</a:t>
            </a:r>
            <a:endParaRPr lang="en-US" sz="4000" dirty="0"/>
          </a:p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Timezone boundaries — pass</a:t>
            </a:r>
            <a:endParaRPr lang="en-US" sz="4000" dirty="0"/>
          </a:p>
        </p:txBody>
      </p:sp>
      <p:sp>
        <p:nvSpPr>
          <p:cNvPr id="14" name="box-129"/>
          <p:cNvSpPr txBox="1"/>
          <p:nvPr/>
        </p:nvSpPr>
        <p:spPr>
          <a:xfrm>
            <a:off x="8046720" y="3337560"/>
            <a:ext cx="356616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  <p:txBody>
          <a:bodyPr wrap="square" lIns="50800" tIns="127000" rIns="127000" bIns="50800" rtlCol="0" anchor="ctr"/>
          <a:lstStyle/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8046720" y="3337560"/>
            <a:ext cx="3566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2,434</a:t>
            </a:r>
            <a:endParaRPr lang="en-US" sz="4000" dirty="0"/>
          </a:p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NLU evaluation — pass</a:t>
            </a:r>
            <a:endParaRPr lang="en-US" sz="40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5029200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DB-backed tests ran against an isolated local MongoDB, not production Atlas.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The NLU evaluation here is the offline run. It makes no Claude calls and no billed calls.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Tests are plain scripts: node verify-&lt;name&gt;.js in backend/.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Current limitations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Not supported today, or not verified in the latest run</a:t>
            </a:r>
            <a:endParaRPr lang="en-US" sz="1600" dirty="0"/>
          </a:p>
        </p:txBody>
      </p:sp>
      <p:sp>
        <p:nvSpPr>
          <p:cNvPr id="4" name="box-130"/>
          <p:cNvSpPr txBox="1"/>
          <p:nvPr/>
        </p:nvSpPr>
        <p:spPr>
          <a:xfrm>
            <a:off x="548640" y="1645920"/>
            <a:ext cx="502920" cy="512064"/>
          </a:xfrm>
          <a:prstGeom prst="roundRect">
            <a:avLst>
              <a:gd name="adj" fmla="val 14545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box-131"/>
          <p:cNvSpPr txBox="1"/>
          <p:nvPr/>
        </p:nvSpPr>
        <p:spPr>
          <a:xfrm>
            <a:off x="1143000" y="1645920"/>
            <a:ext cx="10469880" cy="512064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/>
        </p:spPr>
        <p:txBody>
          <a:bodyPr wrap="square" lIns="50800" tIns="127000" rIns="127000" bIns="50800" rtlCol="0" anchor="ctr"/>
          <a:lstStyle/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645920"/>
            <a:ext cx="10149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Exact Invoice Sales before tax  </a:t>
            </a:r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— No pre-tax invoice total is stored.</a:t>
            </a:r>
            <a:endParaRPr lang="en-US" sz="1500" dirty="0"/>
          </a:p>
        </p:txBody>
      </p:sp>
      <p:sp>
        <p:nvSpPr>
          <p:cNvPr id="7" name="box-132"/>
          <p:cNvSpPr txBox="1"/>
          <p:nvPr/>
        </p:nvSpPr>
        <p:spPr>
          <a:xfrm>
            <a:off x="548640" y="2249424"/>
            <a:ext cx="502920" cy="512064"/>
          </a:xfrm>
          <a:prstGeom prst="roundRect">
            <a:avLst>
              <a:gd name="adj" fmla="val 14545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8" name="box-133"/>
          <p:cNvSpPr txBox="1"/>
          <p:nvPr/>
        </p:nvSpPr>
        <p:spPr>
          <a:xfrm>
            <a:off x="1143000" y="2249424"/>
            <a:ext cx="10469880" cy="512064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/>
        </p:spPr>
        <p:txBody>
          <a:bodyPr wrap="square" lIns="50800" tIns="127000" rIns="127000" bIns="50800" rtlCol="0" anchor="ctr"/>
          <a:lstStyle/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2249424"/>
            <a:ext cx="10149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Exact Turnover / Net Sales  </a:t>
            </a:r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— Needs tax split plus sales and returns in one calculation.</a:t>
            </a:r>
            <a:endParaRPr lang="en-US" sz="1500" dirty="0"/>
          </a:p>
        </p:txBody>
      </p:sp>
      <p:sp>
        <p:nvSpPr>
          <p:cNvPr id="10" name="box-134"/>
          <p:cNvSpPr txBox="1"/>
          <p:nvPr/>
        </p:nvSpPr>
        <p:spPr>
          <a:xfrm>
            <a:off x="548640" y="2852928"/>
            <a:ext cx="502920" cy="512064"/>
          </a:xfrm>
          <a:prstGeom prst="roundRect">
            <a:avLst>
              <a:gd name="adj" fmla="val 14545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1" name="box-135"/>
          <p:cNvSpPr txBox="1"/>
          <p:nvPr/>
        </p:nvSpPr>
        <p:spPr>
          <a:xfrm>
            <a:off x="1143000" y="2852928"/>
            <a:ext cx="10469880" cy="512064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/>
        </p:spPr>
        <p:txBody>
          <a:bodyPr wrap="square" lIns="50800" tIns="127000" rIns="127000" bIns="50800" rtlCol="0" anchor="ctr"/>
          <a:lstStyle/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25880" y="2852928"/>
            <a:ext cx="10149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Per-company time zone  </a:t>
            </a:r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— “Today” follows the server’s clock.</a:t>
            </a:r>
            <a:endParaRPr lang="en-US" sz="1500" dirty="0"/>
          </a:p>
        </p:txBody>
      </p:sp>
      <p:sp>
        <p:nvSpPr>
          <p:cNvPr id="13" name="box-136"/>
          <p:cNvSpPr txBox="1"/>
          <p:nvPr/>
        </p:nvSpPr>
        <p:spPr>
          <a:xfrm>
            <a:off x="548640" y="3456432"/>
            <a:ext cx="502920" cy="512064"/>
          </a:xfrm>
          <a:prstGeom prst="roundRect">
            <a:avLst>
              <a:gd name="adj" fmla="val 14545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4" name="box-137"/>
          <p:cNvSpPr txBox="1"/>
          <p:nvPr/>
        </p:nvSpPr>
        <p:spPr>
          <a:xfrm>
            <a:off x="1143000" y="3456432"/>
            <a:ext cx="10469880" cy="512064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/>
        </p:spPr>
        <p:txBody>
          <a:bodyPr wrap="square" lIns="50800" tIns="127000" rIns="127000" bIns="50800" rtlCol="0" anchor="ctr"/>
          <a:lstStyle/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3456432"/>
            <a:ext cx="10149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Calendar-year grouping  </a:t>
            </a:r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— Use financial year or a custom range.</a:t>
            </a:r>
            <a:endParaRPr lang="en-US" sz="1500" dirty="0"/>
          </a:p>
        </p:txBody>
      </p:sp>
      <p:sp>
        <p:nvSpPr>
          <p:cNvPr id="16" name="box-138"/>
          <p:cNvSpPr txBox="1"/>
          <p:nvPr/>
        </p:nvSpPr>
        <p:spPr>
          <a:xfrm>
            <a:off x="548640" y="4059936"/>
            <a:ext cx="502920" cy="512064"/>
          </a:xfrm>
          <a:prstGeom prst="roundRect">
            <a:avLst>
              <a:gd name="adj" fmla="val 14545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17" name="box-139"/>
          <p:cNvSpPr txBox="1"/>
          <p:nvPr/>
        </p:nvSpPr>
        <p:spPr>
          <a:xfrm>
            <a:off x="1143000" y="4059936"/>
            <a:ext cx="10469880" cy="512064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/>
        </p:spPr>
        <p:txBody>
          <a:bodyPr wrap="square" lIns="50800" tIns="127000" rIns="127000" bIns="50800" rtlCol="0" anchor="ctr"/>
          <a:lstStyle/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4059936"/>
            <a:ext cx="10149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Product / product-group edge cases  </a:t>
            </a:r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— Items with no Stock Group are left out of group results and flagged.</a:t>
            </a:r>
            <a:endParaRPr lang="en-US" sz="1500" dirty="0"/>
          </a:p>
        </p:txBody>
      </p:sp>
      <p:sp>
        <p:nvSpPr>
          <p:cNvPr id="19" name="box-140"/>
          <p:cNvSpPr txBox="1"/>
          <p:nvPr/>
        </p:nvSpPr>
        <p:spPr>
          <a:xfrm>
            <a:off x="548640" y="4663440"/>
            <a:ext cx="502920" cy="512064"/>
          </a:xfrm>
          <a:prstGeom prst="roundRect">
            <a:avLst>
              <a:gd name="adj" fmla="val 14545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6</a:t>
            </a:r>
            <a:endParaRPr lang="en-US" sz="1600" dirty="0"/>
          </a:p>
        </p:txBody>
      </p:sp>
      <p:sp>
        <p:nvSpPr>
          <p:cNvPr id="20" name="box-141"/>
          <p:cNvSpPr txBox="1"/>
          <p:nvPr/>
        </p:nvSpPr>
        <p:spPr>
          <a:xfrm>
            <a:off x="1143000" y="4663440"/>
            <a:ext cx="10469880" cy="512064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/>
        </p:spPr>
        <p:txBody>
          <a:bodyPr wrap="square" lIns="50800" tIns="127000" rIns="127000" bIns="50800" rtlCol="0" anchor="ctr"/>
          <a:lstStyle/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325880" y="4663440"/>
            <a:ext cx="10149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Real-tenant parity check  </a:t>
            </a:r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— Not run in the latest verification.</a:t>
            </a:r>
            <a:endParaRPr lang="en-US" sz="1500" dirty="0"/>
          </a:p>
        </p:txBody>
      </p:sp>
      <p:sp>
        <p:nvSpPr>
          <p:cNvPr id="22" name="box-142"/>
          <p:cNvSpPr txBox="1"/>
          <p:nvPr/>
        </p:nvSpPr>
        <p:spPr>
          <a:xfrm>
            <a:off x="548640" y="5266944"/>
            <a:ext cx="502920" cy="512064"/>
          </a:xfrm>
          <a:prstGeom prst="roundRect">
            <a:avLst>
              <a:gd name="adj" fmla="val 14545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7</a:t>
            </a:r>
            <a:endParaRPr lang="en-US" sz="1600" dirty="0"/>
          </a:p>
        </p:txBody>
      </p:sp>
      <p:sp>
        <p:nvSpPr>
          <p:cNvPr id="23" name="box-143"/>
          <p:cNvSpPr txBox="1"/>
          <p:nvPr/>
        </p:nvSpPr>
        <p:spPr>
          <a:xfrm>
            <a:off x="1143000" y="5266944"/>
            <a:ext cx="10469880" cy="512064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/>
        </p:spPr>
        <p:txBody>
          <a:bodyPr wrap="square" lIns="50800" tIns="127000" rIns="127000" bIns="50800" rtlCol="0" anchor="ctr"/>
          <a:lstStyle/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1325880" y="5266944"/>
            <a:ext cx="10149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Live billed Claude evaluation  </a:t>
            </a:r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— Not run in the latest verification.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59893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Also not built: product-group returns, return rate, net sales after returns, scheduled master refresh, multi-user invitations.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Current architecture principles</a:t>
            </a:r>
            <a:endParaRPr lang="en-US" sz="3200" dirty="0"/>
          </a:p>
        </p:txBody>
      </p:sp>
      <p:sp>
        <p:nvSpPr>
          <p:cNvPr id="3" name="box-144"/>
          <p:cNvSpPr txBox="1"/>
          <p:nvPr/>
        </p:nvSpPr>
        <p:spPr>
          <a:xfrm>
            <a:off x="548640" y="1325880"/>
            <a:ext cx="777240" cy="777240"/>
          </a:xfrm>
          <a:prstGeom prst="roundRect">
            <a:avLst>
              <a:gd name="adj" fmla="val 9412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1</a:t>
            </a:r>
            <a:endParaRPr lang="en-US" sz="2400" dirty="0"/>
          </a:p>
        </p:txBody>
      </p:sp>
      <p:sp>
        <p:nvSpPr>
          <p:cNvPr id="4" name="box-145"/>
          <p:cNvSpPr txBox="1"/>
          <p:nvPr/>
        </p:nvSpPr>
        <p:spPr>
          <a:xfrm>
            <a:off x="1463040" y="1325880"/>
            <a:ext cx="1014984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/>
        </p:spPr>
        <p:txBody>
          <a:bodyPr wrap="square" lIns="50800" tIns="127000" rIns="127000" bIns="50800" rtlCol="0" anchor="ctr"/>
          <a:lstStyle/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645920" y="132588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AI understands the question.</a:t>
            </a:r>
            <a:endParaRPr lang="en-US" sz="20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Claude only turns words into a plan.</a:t>
            </a:r>
            <a:endParaRPr lang="en-US" sz="2000" dirty="0"/>
          </a:p>
        </p:txBody>
      </p:sp>
      <p:sp>
        <p:nvSpPr>
          <p:cNvPr id="6" name="box-146"/>
          <p:cNvSpPr txBox="1"/>
          <p:nvPr/>
        </p:nvSpPr>
        <p:spPr>
          <a:xfrm>
            <a:off x="548640" y="2304288"/>
            <a:ext cx="777240" cy="777240"/>
          </a:xfrm>
          <a:prstGeom prst="roundRect">
            <a:avLst>
              <a:gd name="adj" fmla="val 9412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2</a:t>
            </a:r>
            <a:endParaRPr lang="en-US" sz="2400" dirty="0"/>
          </a:p>
        </p:txBody>
      </p:sp>
      <p:sp>
        <p:nvSpPr>
          <p:cNvPr id="7" name="box-147"/>
          <p:cNvSpPr txBox="1"/>
          <p:nvPr/>
        </p:nvSpPr>
        <p:spPr>
          <a:xfrm>
            <a:off x="1463040" y="2304288"/>
            <a:ext cx="1014984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/>
        </p:spPr>
        <p:txBody>
          <a:bodyPr wrap="square" lIns="50800" tIns="127000" rIns="127000" bIns="50800" rtlCol="0" anchor="ctr"/>
          <a:lstStyle/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645920" y="2304288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Backend decides what is allowed.</a:t>
            </a:r>
            <a:endParaRPr lang="en-US" sz="20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The server checks every plan.</a:t>
            </a:r>
            <a:endParaRPr lang="en-US" sz="2000" dirty="0"/>
          </a:p>
        </p:txBody>
      </p:sp>
      <p:sp>
        <p:nvSpPr>
          <p:cNvPr id="9" name="box-148"/>
          <p:cNvSpPr txBox="1"/>
          <p:nvPr/>
        </p:nvSpPr>
        <p:spPr>
          <a:xfrm>
            <a:off x="548640" y="3282696"/>
            <a:ext cx="777240" cy="777240"/>
          </a:xfrm>
          <a:prstGeom prst="roundRect">
            <a:avLst>
              <a:gd name="adj" fmla="val 9412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3</a:t>
            </a:r>
            <a:endParaRPr lang="en-US" sz="2400" dirty="0"/>
          </a:p>
        </p:txBody>
      </p:sp>
      <p:sp>
        <p:nvSpPr>
          <p:cNvPr id="10" name="box-149"/>
          <p:cNvSpPr txBox="1"/>
          <p:nvPr/>
        </p:nvSpPr>
        <p:spPr>
          <a:xfrm>
            <a:off x="1463040" y="3282696"/>
            <a:ext cx="1014984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/>
        </p:spPr>
        <p:txBody>
          <a:bodyPr wrap="square" lIns="50800" tIns="127000" rIns="127000" bIns="50800" rtlCol="0" anchor="ctr"/>
          <a:lstStyle/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645920" y="3282696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Backend calculates financial numbers.</a:t>
            </a:r>
            <a:endParaRPr lang="en-US" sz="20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Fixed code, not a model.</a:t>
            </a:r>
            <a:endParaRPr lang="en-US" sz="2000" dirty="0"/>
          </a:p>
        </p:txBody>
      </p:sp>
      <p:sp>
        <p:nvSpPr>
          <p:cNvPr id="12" name="box-150"/>
          <p:cNvSpPr txBox="1"/>
          <p:nvPr/>
        </p:nvSpPr>
        <p:spPr>
          <a:xfrm>
            <a:off x="548640" y="4261104"/>
            <a:ext cx="777240" cy="777240"/>
          </a:xfrm>
          <a:prstGeom prst="roundRect">
            <a:avLst>
              <a:gd name="adj" fmla="val 9412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4</a:t>
            </a:r>
            <a:endParaRPr lang="en-US" sz="2400" dirty="0"/>
          </a:p>
        </p:txBody>
      </p:sp>
      <p:sp>
        <p:nvSpPr>
          <p:cNvPr id="13" name="box-151"/>
          <p:cNvSpPr txBox="1"/>
          <p:nvPr/>
        </p:nvSpPr>
        <p:spPr>
          <a:xfrm>
            <a:off x="1463040" y="4261104"/>
            <a:ext cx="1014984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/>
        </p:spPr>
        <p:txBody>
          <a:bodyPr wrap="square" lIns="50800" tIns="127000" rIns="127000" bIns="50800" rtlCol="0" anchor="ctr"/>
          <a:lstStyle/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645920" y="4261104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MongoDB is the stored business data source.</a:t>
            </a:r>
            <a:endParaRPr lang="en-US" sz="20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Answers come from stored data.</a:t>
            </a:r>
            <a:endParaRPr lang="en-US" sz="2000" dirty="0"/>
          </a:p>
        </p:txBody>
      </p:sp>
      <p:sp>
        <p:nvSpPr>
          <p:cNvPr id="15" name="box-152"/>
          <p:cNvSpPr txBox="1"/>
          <p:nvPr/>
        </p:nvSpPr>
        <p:spPr>
          <a:xfrm>
            <a:off x="548640" y="5239512"/>
            <a:ext cx="777240" cy="777240"/>
          </a:xfrm>
          <a:prstGeom prst="roundRect">
            <a:avLst>
              <a:gd name="adj" fmla="val 9412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5</a:t>
            </a:r>
            <a:endParaRPr lang="en-US" sz="2400" dirty="0"/>
          </a:p>
        </p:txBody>
      </p:sp>
      <p:sp>
        <p:nvSpPr>
          <p:cNvPr id="16" name="box-153"/>
          <p:cNvSpPr txBox="1"/>
          <p:nvPr/>
        </p:nvSpPr>
        <p:spPr>
          <a:xfrm>
            <a:off x="1463040" y="5239512"/>
            <a:ext cx="1014984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/>
        </p:spPr>
        <p:txBody>
          <a:bodyPr wrap="square" lIns="50800" tIns="127000" rIns="127000" bIns="50800" rtlCol="0" anchor="ctr"/>
          <a:lstStyle/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645920" y="5239512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Unsupported calculations are refused, not guessed.</a:t>
            </a:r>
            <a:endParaRPr lang="en-US" sz="20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A refusal beats a wrong number.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 work with this code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Before changing something, walk the path:</a:t>
            </a:r>
            <a:endParaRPr lang="en-US" sz="1600" dirty="0"/>
          </a:p>
        </p:txBody>
      </p:sp>
      <p:sp>
        <p:nvSpPr>
          <p:cNvPr id="4" name="box-154"/>
          <p:cNvSpPr txBox="1"/>
          <p:nvPr/>
        </p:nvSpPr>
        <p:spPr>
          <a:xfrm>
            <a:off x="548640" y="1645920"/>
            <a:ext cx="457200" cy="457200"/>
          </a:xfrm>
          <a:prstGeom prst="roundRect">
            <a:avLst>
              <a:gd name="adj" fmla="val 16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1645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Find the user-facing behavior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669280" y="16459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chatController.js, queryChat.js</a:t>
            </a:r>
            <a:endParaRPr lang="en-US" sz="1300" dirty="0"/>
          </a:p>
        </p:txBody>
      </p:sp>
      <p:sp>
        <p:nvSpPr>
          <p:cNvPr id="7" name="box-155"/>
          <p:cNvSpPr txBox="1"/>
          <p:nvPr/>
        </p:nvSpPr>
        <p:spPr>
          <a:xfrm>
            <a:off x="548640" y="2194560"/>
            <a:ext cx="457200" cy="457200"/>
          </a:xfrm>
          <a:prstGeom prst="roundRect">
            <a:avLst>
              <a:gd name="adj" fmla="val 16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21945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Find the planner / query plan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669280" y="21945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planner.js, queryPlan.schema.js</a:t>
            </a:r>
            <a:endParaRPr lang="en-US" sz="1300" dirty="0"/>
          </a:p>
        </p:txBody>
      </p:sp>
      <p:sp>
        <p:nvSpPr>
          <p:cNvPr id="10" name="box-156"/>
          <p:cNvSpPr txBox="1"/>
          <p:nvPr/>
        </p:nvSpPr>
        <p:spPr>
          <a:xfrm>
            <a:off x="548640" y="2743200"/>
            <a:ext cx="457200" cy="457200"/>
          </a:xfrm>
          <a:prstGeom prst="roundRect">
            <a:avLst>
              <a:gd name="adj" fmla="val 16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3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143000" y="27432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Find validation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669280" y="27432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validator.js, semanticCatalog.js</a:t>
            </a:r>
            <a:endParaRPr lang="en-US" sz="1300" dirty="0"/>
          </a:p>
        </p:txBody>
      </p:sp>
      <p:sp>
        <p:nvSpPr>
          <p:cNvPr id="13" name="box-157"/>
          <p:cNvSpPr txBox="1"/>
          <p:nvPr/>
        </p:nvSpPr>
        <p:spPr>
          <a:xfrm>
            <a:off x="548640" y="3291840"/>
            <a:ext cx="457200" cy="457200"/>
          </a:xfrm>
          <a:prstGeom prst="roundRect">
            <a:avLst>
              <a:gd name="adj" fmla="val 16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4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143000" y="32918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Find compilation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5669280" y="32918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compile.js</a:t>
            </a:r>
            <a:endParaRPr lang="en-US" sz="1300" dirty="0"/>
          </a:p>
        </p:txBody>
      </p:sp>
      <p:sp>
        <p:nvSpPr>
          <p:cNvPr id="16" name="box-158"/>
          <p:cNvSpPr txBox="1"/>
          <p:nvPr/>
        </p:nvSpPr>
        <p:spPr>
          <a:xfrm>
            <a:off x="548640" y="3840480"/>
            <a:ext cx="457200" cy="457200"/>
          </a:xfrm>
          <a:prstGeom prst="roundRect">
            <a:avLst>
              <a:gd name="adj" fmla="val 16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5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143000" y="38404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Find execution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5669280" y="38404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execute.js</a:t>
            </a:r>
            <a:endParaRPr lang="en-US" sz="1300" dirty="0"/>
          </a:p>
        </p:txBody>
      </p:sp>
      <p:sp>
        <p:nvSpPr>
          <p:cNvPr id="19" name="box-159"/>
          <p:cNvSpPr txBox="1"/>
          <p:nvPr/>
        </p:nvSpPr>
        <p:spPr>
          <a:xfrm>
            <a:off x="548640" y="4389120"/>
            <a:ext cx="457200" cy="457200"/>
          </a:xfrm>
          <a:prstGeom prst="roundRect">
            <a:avLst>
              <a:gd name="adj" fmla="val 16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6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1143000" y="43891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Check tests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5669280" y="43891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backend/verify-*.js</a:t>
            </a:r>
            <a:endParaRPr lang="en-US" sz="1300" dirty="0"/>
          </a:p>
        </p:txBody>
      </p:sp>
      <p:sp>
        <p:nvSpPr>
          <p:cNvPr id="22" name="box-160"/>
          <p:cNvSpPr txBox="1"/>
          <p:nvPr/>
        </p:nvSpPr>
        <p:spPr>
          <a:xfrm>
            <a:off x="548640" y="4937760"/>
            <a:ext cx="457200" cy="457200"/>
          </a:xfrm>
          <a:prstGeom prst="roundRect">
            <a:avLst>
              <a:gd name="adj" fmla="val 16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7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1143000" y="49377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Change the smallest correct layer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5669280" y="49377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reuse existing patterns</a:t>
            </a:r>
            <a:endParaRPr lang="en-US" sz="1300" dirty="0"/>
          </a:p>
        </p:txBody>
      </p:sp>
      <p:sp>
        <p:nvSpPr>
          <p:cNvPr id="25" name="box-161"/>
          <p:cNvSpPr txBox="1"/>
          <p:nvPr/>
        </p:nvSpPr>
        <p:spPr>
          <a:xfrm>
            <a:off x="9144000" y="1645920"/>
            <a:ext cx="2468880" cy="3749040"/>
          </a:xfrm>
          <a:prstGeom prst="roundRect">
            <a:avLst>
              <a:gd name="adj" fmla="val 2963"/>
            </a:avLst>
          </a:prstGeom>
          <a:solidFill>
            <a:schemeClr val="tx2"/>
          </a:solidFill>
          <a:ln/>
        </p:spPr>
        <p:txBody>
          <a:bodyPr wrap="square" lIns="50800" tIns="127000" rIns="127000" bIns="50800" rtlCol="0" anchor="ctr"/>
          <a:lstStyle/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9281160" y="1645920"/>
            <a:ext cx="219456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Do not change the semantic meaning from the prompt alone.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56692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Paths are under backend/src/ (controllers/ and services/query/). Meaning lives in the catalog, not in the prompt.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One-page architecture summary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Data lane</a:t>
            </a:r>
            <a:endParaRPr lang="en-US" sz="1300" dirty="0"/>
          </a:p>
        </p:txBody>
      </p:sp>
      <p:sp>
        <p:nvSpPr>
          <p:cNvPr id="4" name="box-162"/>
          <p:cNvSpPr txBox="1"/>
          <p:nvPr/>
        </p:nvSpPr>
        <p:spPr>
          <a:xfrm>
            <a:off x="548640" y="1508760"/>
            <a:ext cx="2377440" cy="640080"/>
          </a:xfrm>
          <a:prstGeom prst="roundRect">
            <a:avLst>
              <a:gd name="adj" fmla="val 11429"/>
            </a:avLst>
          </a:prstGeom>
          <a:solidFill>
            <a:schemeClr val="accent2"/>
          </a:solidFill>
          <a:ln/>
        </p:spPr>
        <p:txBody>
          <a:bodyPr wrap="square" lIns="50800" tIns="127000" rIns="127000" bIns="508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TallyPrime</a:t>
            </a:r>
            <a:endParaRPr lang="en-US" sz="1500" dirty="0"/>
          </a:p>
        </p:txBody>
      </p:sp>
      <p:sp>
        <p:nvSpPr>
          <p:cNvPr id="5" name="arrow-163"/>
          <p:cNvSpPr/>
          <p:nvPr/>
        </p:nvSpPr>
        <p:spPr>
          <a:xfrm>
            <a:off x="2944368" y="1828800"/>
            <a:ext cx="484632" cy="0"/>
          </a:xfrm>
          <a:prstGeom prst="line">
            <a:avLst/>
          </a:prstGeom>
          <a:noFill/>
          <a:ln w="22225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6" name="box-164"/>
          <p:cNvSpPr txBox="1"/>
          <p:nvPr/>
        </p:nvSpPr>
        <p:spPr>
          <a:xfrm>
            <a:off x="3447288" y="1508760"/>
            <a:ext cx="2377440" cy="640080"/>
          </a:xfrm>
          <a:prstGeom prst="roundRect">
            <a:avLst>
              <a:gd name="adj" fmla="val 11429"/>
            </a:avLst>
          </a:prstGeom>
          <a:solidFill>
            <a:schemeClr val="accent2"/>
          </a:solidFill>
          <a:ln/>
        </p:spPr>
        <p:txBody>
          <a:bodyPr wrap="square" lIns="50800" tIns="127000" rIns="127000" bIns="508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Sync</a:t>
            </a:r>
            <a:endParaRPr lang="en-US" sz="1500" dirty="0"/>
          </a:p>
        </p:txBody>
      </p:sp>
      <p:sp>
        <p:nvSpPr>
          <p:cNvPr id="7" name="arrow-165"/>
          <p:cNvSpPr/>
          <p:nvPr/>
        </p:nvSpPr>
        <p:spPr>
          <a:xfrm>
            <a:off x="5843016" y="1828800"/>
            <a:ext cx="484632" cy="0"/>
          </a:xfrm>
          <a:prstGeom prst="line">
            <a:avLst/>
          </a:prstGeom>
          <a:noFill/>
          <a:ln w="22225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8" name="box-166"/>
          <p:cNvSpPr txBox="1"/>
          <p:nvPr/>
        </p:nvSpPr>
        <p:spPr>
          <a:xfrm>
            <a:off x="6345936" y="1508760"/>
            <a:ext cx="2377440" cy="640080"/>
          </a:xfrm>
          <a:prstGeom prst="roundRect">
            <a:avLst>
              <a:gd name="adj" fmla="val 11429"/>
            </a:avLst>
          </a:prstGeom>
          <a:solidFill>
            <a:schemeClr val="accent2"/>
          </a:solidFill>
          <a:ln/>
        </p:spPr>
        <p:txBody>
          <a:bodyPr wrap="square" lIns="50800" tIns="127000" rIns="127000" bIns="508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Parser + Mapper</a:t>
            </a:r>
            <a:endParaRPr lang="en-US" sz="1500" dirty="0"/>
          </a:p>
        </p:txBody>
      </p:sp>
      <p:sp>
        <p:nvSpPr>
          <p:cNvPr id="9" name="arrow-167"/>
          <p:cNvSpPr/>
          <p:nvPr/>
        </p:nvSpPr>
        <p:spPr>
          <a:xfrm>
            <a:off x="8741664" y="1828800"/>
            <a:ext cx="484632" cy="0"/>
          </a:xfrm>
          <a:prstGeom prst="line">
            <a:avLst/>
          </a:prstGeom>
          <a:noFill/>
          <a:ln w="22225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10" name="box-168"/>
          <p:cNvSpPr txBox="1"/>
          <p:nvPr/>
        </p:nvSpPr>
        <p:spPr>
          <a:xfrm>
            <a:off x="9244584" y="1508760"/>
            <a:ext cx="2377440" cy="64008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/>
        </p:spPr>
        <p:txBody>
          <a:bodyPr wrap="square" lIns="50800" tIns="127000" rIns="127000" bIns="508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MongoDB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2514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Question lane</a:t>
            </a:r>
            <a:endParaRPr lang="en-US" sz="1300" dirty="0"/>
          </a:p>
        </p:txBody>
      </p:sp>
      <p:sp>
        <p:nvSpPr>
          <p:cNvPr id="12" name="box-169"/>
          <p:cNvSpPr txBox="1"/>
          <p:nvPr/>
        </p:nvSpPr>
        <p:spPr>
          <a:xfrm>
            <a:off x="548640" y="2834640"/>
            <a:ext cx="1261872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User question</a:t>
            </a:r>
            <a:endParaRPr lang="en-US" sz="1300" dirty="0"/>
          </a:p>
        </p:txBody>
      </p:sp>
      <p:sp>
        <p:nvSpPr>
          <p:cNvPr id="13" name="arrow-170"/>
          <p:cNvSpPr/>
          <p:nvPr/>
        </p:nvSpPr>
        <p:spPr>
          <a:xfrm>
            <a:off x="1810512" y="3337560"/>
            <a:ext cx="137160" cy="0"/>
          </a:xfrm>
          <a:prstGeom prst="line">
            <a:avLst/>
          </a:prstGeom>
          <a:noFill/>
          <a:ln w="22225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14" name="box-171"/>
          <p:cNvSpPr txBox="1"/>
          <p:nvPr/>
        </p:nvSpPr>
        <p:spPr>
          <a:xfrm>
            <a:off x="1947672" y="2834640"/>
            <a:ext cx="1261872" cy="1005840"/>
          </a:xfrm>
          <a:prstGeom prst="roundRect">
            <a:avLst>
              <a:gd name="adj" fmla="val 7273"/>
            </a:avLst>
          </a:prstGeom>
          <a:solidFill>
            <a:schemeClr val="accent1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AI planner</a:t>
            </a:r>
            <a:endParaRPr lang="en-US" sz="1300" dirty="0"/>
          </a:p>
        </p:txBody>
      </p:sp>
      <p:sp>
        <p:nvSpPr>
          <p:cNvPr id="15" name="arrow-172"/>
          <p:cNvSpPr/>
          <p:nvPr/>
        </p:nvSpPr>
        <p:spPr>
          <a:xfrm>
            <a:off x="3209544" y="3337560"/>
            <a:ext cx="137160" cy="0"/>
          </a:xfrm>
          <a:prstGeom prst="line">
            <a:avLst/>
          </a:prstGeom>
          <a:noFill/>
          <a:ln w="22225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16" name="box-173"/>
          <p:cNvSpPr txBox="1"/>
          <p:nvPr/>
        </p:nvSpPr>
        <p:spPr>
          <a:xfrm>
            <a:off x="3346704" y="2834640"/>
            <a:ext cx="1261872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Structured query plan</a:t>
            </a:r>
            <a:endParaRPr lang="en-US" sz="1300" dirty="0"/>
          </a:p>
        </p:txBody>
      </p:sp>
      <p:sp>
        <p:nvSpPr>
          <p:cNvPr id="17" name="arrow-174"/>
          <p:cNvSpPr/>
          <p:nvPr/>
        </p:nvSpPr>
        <p:spPr>
          <a:xfrm>
            <a:off x="4608576" y="3337560"/>
            <a:ext cx="137160" cy="0"/>
          </a:xfrm>
          <a:prstGeom prst="line">
            <a:avLst/>
          </a:prstGeom>
          <a:noFill/>
          <a:ln w="22225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18" name="box-175"/>
          <p:cNvSpPr txBox="1"/>
          <p:nvPr/>
        </p:nvSpPr>
        <p:spPr>
          <a:xfrm>
            <a:off x="4745736" y="2834640"/>
            <a:ext cx="1261872" cy="1005840"/>
          </a:xfrm>
          <a:prstGeom prst="roundRect">
            <a:avLst>
              <a:gd name="adj" fmla="val 7273"/>
            </a:avLst>
          </a:prstGeom>
          <a:solidFill>
            <a:schemeClr val="accent2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Validation</a:t>
            </a:r>
            <a:endParaRPr lang="en-US" sz="1300" dirty="0"/>
          </a:p>
        </p:txBody>
      </p:sp>
      <p:sp>
        <p:nvSpPr>
          <p:cNvPr id="19" name="arrow-176"/>
          <p:cNvSpPr/>
          <p:nvPr/>
        </p:nvSpPr>
        <p:spPr>
          <a:xfrm>
            <a:off x="6007608" y="3337560"/>
            <a:ext cx="137160" cy="0"/>
          </a:xfrm>
          <a:prstGeom prst="line">
            <a:avLst/>
          </a:prstGeom>
          <a:noFill/>
          <a:ln w="22225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20" name="box-177"/>
          <p:cNvSpPr txBox="1"/>
          <p:nvPr/>
        </p:nvSpPr>
        <p:spPr>
          <a:xfrm>
            <a:off x="6144768" y="2834640"/>
            <a:ext cx="1261872" cy="1005840"/>
          </a:xfrm>
          <a:prstGeom prst="roundRect">
            <a:avLst>
              <a:gd name="adj" fmla="val 7273"/>
            </a:avLst>
          </a:prstGeom>
          <a:solidFill>
            <a:schemeClr val="accent2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Query compiler</a:t>
            </a:r>
            <a:endParaRPr lang="en-US" sz="1300" dirty="0"/>
          </a:p>
        </p:txBody>
      </p:sp>
      <p:sp>
        <p:nvSpPr>
          <p:cNvPr id="21" name="arrow-178"/>
          <p:cNvSpPr/>
          <p:nvPr/>
        </p:nvSpPr>
        <p:spPr>
          <a:xfrm>
            <a:off x="7406640" y="3337560"/>
            <a:ext cx="137160" cy="0"/>
          </a:xfrm>
          <a:prstGeom prst="line">
            <a:avLst/>
          </a:prstGeom>
          <a:noFill/>
          <a:ln w="22225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22" name="box-179"/>
          <p:cNvSpPr txBox="1"/>
          <p:nvPr/>
        </p:nvSpPr>
        <p:spPr>
          <a:xfrm>
            <a:off x="7543800" y="2834640"/>
            <a:ext cx="1261872" cy="1005840"/>
          </a:xfrm>
          <a:prstGeom prst="roundRect">
            <a:avLst>
              <a:gd name="adj" fmla="val 7273"/>
            </a:avLst>
          </a:prstGeom>
          <a:solidFill>
            <a:schemeClr val="accent2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Query executor</a:t>
            </a:r>
            <a:endParaRPr lang="en-US" sz="1300" dirty="0"/>
          </a:p>
        </p:txBody>
      </p:sp>
      <p:sp>
        <p:nvSpPr>
          <p:cNvPr id="23" name="arrow-180"/>
          <p:cNvSpPr/>
          <p:nvPr/>
        </p:nvSpPr>
        <p:spPr>
          <a:xfrm>
            <a:off x="8805672" y="3337560"/>
            <a:ext cx="137160" cy="0"/>
          </a:xfrm>
          <a:prstGeom prst="line">
            <a:avLst/>
          </a:prstGeom>
          <a:noFill/>
          <a:ln w="22225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24" name="box-181"/>
          <p:cNvSpPr txBox="1"/>
          <p:nvPr/>
        </p:nvSpPr>
        <p:spPr>
          <a:xfrm>
            <a:off x="8942832" y="2834640"/>
            <a:ext cx="1261872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Deterministic result</a:t>
            </a:r>
            <a:endParaRPr lang="en-US" sz="1300" dirty="0"/>
          </a:p>
        </p:txBody>
      </p:sp>
      <p:sp>
        <p:nvSpPr>
          <p:cNvPr id="25" name="arrow-182"/>
          <p:cNvSpPr/>
          <p:nvPr/>
        </p:nvSpPr>
        <p:spPr>
          <a:xfrm>
            <a:off x="10204704" y="3337560"/>
            <a:ext cx="137160" cy="0"/>
          </a:xfrm>
          <a:prstGeom prst="line">
            <a:avLst/>
          </a:prstGeom>
          <a:noFill/>
          <a:ln w="22225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26" name="box-183"/>
          <p:cNvSpPr txBox="1"/>
          <p:nvPr/>
        </p:nvSpPr>
        <p:spPr>
          <a:xfrm>
            <a:off x="10341864" y="2834640"/>
            <a:ext cx="1261872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Formatter / UI</a:t>
            </a:r>
            <a:endParaRPr lang="en-US" sz="1300" dirty="0"/>
          </a:p>
        </p:txBody>
      </p:sp>
      <p:sp>
        <p:nvSpPr>
          <p:cNvPr id="27" name="arrow-184"/>
          <p:cNvSpPr/>
          <p:nvPr/>
        </p:nvSpPr>
        <p:spPr>
          <a:xfrm flipH="1">
            <a:off x="8174736" y="2167128"/>
            <a:ext cx="2258568" cy="649224"/>
          </a:xfrm>
          <a:prstGeom prst="line">
            <a:avLst/>
          </a:prstGeom>
          <a:noFill/>
          <a:ln w="22225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28" name="Text 26"/>
          <p:cNvSpPr txBox="1"/>
          <p:nvPr/>
        </p:nvSpPr>
        <p:spPr>
          <a:xfrm>
            <a:off x="7863840" y="23317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executor reads here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40690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Yellow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= AI.   </a:t>
            </a:r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Green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= ordinary server code that checks and calculates.</a:t>
            </a:r>
            <a:endParaRPr lang="en-US" sz="1400" dirty="0"/>
          </a:p>
        </p:txBody>
      </p:sp>
      <p:sp>
        <p:nvSpPr>
          <p:cNvPr id="30" name="box-185"/>
          <p:cNvSpPr txBox="1"/>
          <p:nvPr/>
        </p:nvSpPr>
        <p:spPr>
          <a:xfrm>
            <a:off x="548640" y="4846320"/>
            <a:ext cx="11064240" cy="1097280"/>
          </a:xfrm>
          <a:prstGeom prst="roundRect">
            <a:avLst>
              <a:gd name="adj" fmla="val 6667"/>
            </a:avLst>
          </a:prstGeom>
          <a:solidFill>
            <a:schemeClr val="tx2"/>
          </a:solidFill>
          <a:ln/>
        </p:spPr>
        <p:txBody>
          <a:bodyPr wrap="square" lIns="50800" tIns="127000" rIns="127000" bIns="5080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understands. Backend verifies. Engine calculates.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allyPulse Handover">
  <a:themeElements>
    <a:clrScheme name="TallyPulse Handover">
      <a:dk1>
        <a:srgbClr val="17262A"/>
      </a:dk1>
      <a:lt1>
        <a:srgbClr val="FFFFFF"/>
      </a:lt1>
      <a:dk2>
        <a:srgbClr val="1F4D45"/>
      </a:dk2>
      <a:lt2>
        <a:srgbClr val="EDF3F1"/>
      </a:lt2>
      <a:accent1>
        <a:srgbClr val="D9962B"/>
      </a:accent1>
      <a:accent2>
        <a:srgbClr val="2E7D6E"/>
      </a:accent2>
      <a:accent3>
        <a:srgbClr val="6F8580"/>
      </a:accent3>
      <a:accent4>
        <a:srgbClr val="B5473A"/>
      </a:accent4>
      <a:accent5>
        <a:srgbClr val="3C6E9E"/>
      </a:accent5>
      <a:accent6>
        <a:srgbClr val="9CC5B8"/>
      </a:accent6>
      <a:hlink>
        <a:srgbClr val="2E7D6E"/>
      </a:hlink>
      <a:folHlink>
        <a:srgbClr val="6F8580"/>
      </a:folHlink>
    </a:clrScheme>
    <a:fontScheme name="TallyPulse Handover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TallyPulse — Current Architecture &amp; Capabilities</dc:title>
  <dc:subject>PptxGenJS Presentation</dc:subject>
  <dc:creator>TallyPulse</dc:creator>
  <cp:lastModifiedBy>TallyPulse</cp:lastModifiedBy>
  <cp:revision>1</cp:revision>
  <dcterms:created xsi:type="dcterms:W3CDTF">2026-10-08T06:15:15Z</dcterms:created>
  <dcterms:modified xsi:type="dcterms:W3CDTF">2026-10-08T06:15:15Z</dcterms:modified>
</cp:coreProperties>
</file>